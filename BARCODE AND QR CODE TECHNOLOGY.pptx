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21"/>
  </p:notesMasterIdLst>
  <p:sldIdLst>
    <p:sldId id="256" r:id="rId2"/>
    <p:sldId id="258" r:id="rId3"/>
    <p:sldId id="257" r:id="rId4"/>
    <p:sldId id="276" r:id="rId5"/>
    <p:sldId id="275" r:id="rId6"/>
    <p:sldId id="261" r:id="rId7"/>
    <p:sldId id="264" r:id="rId8"/>
    <p:sldId id="265" r:id="rId9"/>
    <p:sldId id="270" r:id="rId10"/>
    <p:sldId id="269" r:id="rId11"/>
    <p:sldId id="273" r:id="rId12"/>
    <p:sldId id="274" r:id="rId13"/>
    <p:sldId id="272" r:id="rId14"/>
    <p:sldId id="262" r:id="rId15"/>
    <p:sldId id="267" r:id="rId16"/>
    <p:sldId id="263" r:id="rId17"/>
    <p:sldId id="259" r:id="rId18"/>
    <p:sldId id="277" r:id="rId19"/>
    <p:sldId id="278"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van kumar" initials="pk" lastIdx="1" clrIdx="0">
    <p:extLst>
      <p:ext uri="{19B8F6BF-5375-455C-9EA6-DF929625EA0E}">
        <p15:presenceInfo xmlns:p15="http://schemas.microsoft.com/office/powerpoint/2012/main" userId="99771b63a9293b9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652" autoAdjust="0"/>
    <p:restoredTop sz="94711" autoAdjust="0"/>
  </p:normalViewPr>
  <p:slideViewPr>
    <p:cSldViewPr>
      <p:cViewPr varScale="1">
        <p:scale>
          <a:sx n="90" d="100"/>
          <a:sy n="90" d="100"/>
        </p:scale>
        <p:origin x="1094" y="53"/>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ommentAuthors" Target="commentAuthor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19-09-12T20:20:42.577" idx="1">
    <p:pos x="10" y="10"/>
    <p:text/>
    <p:extLst>
      <p:ext uri="{C676402C-5697-4E1C-873F-D02D1690AC5C}">
        <p15:threadingInfo xmlns:p15="http://schemas.microsoft.com/office/powerpoint/2012/main" timeZoneBias="-33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C71CF6-68D6-4027-8D5C-D61F252BAB8A}" type="datetimeFigureOut">
              <a:rPr lang="en-US" smtClean="0"/>
              <a:t>11/15/2019</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FA0601-6851-4789-A7F9-0D4841EA01D4}" type="slidenum">
              <a:rPr lang="en-US" smtClean="0"/>
              <a:t>‹#›</a:t>
            </a:fld>
            <a:endParaRPr lang="en-US"/>
          </a:p>
        </p:txBody>
      </p:sp>
    </p:spTree>
    <p:extLst>
      <p:ext uri="{BB962C8B-B14F-4D97-AF65-F5344CB8AC3E}">
        <p14:creationId xmlns:p14="http://schemas.microsoft.com/office/powerpoint/2010/main" val="10282449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FA0601-6851-4789-A7F9-0D4841EA01D4}" type="slidenum">
              <a:rPr lang="en-US" smtClean="0"/>
              <a:t>2</a:t>
            </a:fld>
            <a:endParaRPr lang="en-US"/>
          </a:p>
        </p:txBody>
      </p:sp>
    </p:spTree>
    <p:extLst>
      <p:ext uri="{BB962C8B-B14F-4D97-AF65-F5344CB8AC3E}">
        <p14:creationId xmlns:p14="http://schemas.microsoft.com/office/powerpoint/2010/main" val="38036214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0"/>
            <a:ext cx="7543800" cy="2593975"/>
          </a:xfrm>
        </p:spPr>
        <p:txBody>
          <a:bodyPr anchor="b"/>
          <a:lstStyle>
            <a:lvl1pPr>
              <a:defRPr sz="6600">
                <a:ln>
                  <a:noFill/>
                </a:ln>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685800" y="4572000"/>
            <a:ext cx="646176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092B681-B30E-4FA2-80BE-8EB08DA6D0DC}" type="datetimeFigureOut">
              <a:rPr lang="en-US" smtClean="0"/>
              <a:t>11/15/2019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79E748-EDDD-4A61-BB38-C01CD4BB205C}"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092B681-B30E-4FA2-80BE-8EB08DA6D0DC}" type="datetimeFigureOut">
              <a:rPr lang="en-US" smtClean="0"/>
              <a:t>11/15/2019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79E748-EDDD-4A61-BB38-C01CD4BB205C}"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5486400"/>
            <a:ext cx="7659687" cy="1168400"/>
          </a:xfrm>
        </p:spPr>
        <p:txBody>
          <a:bodyPr anchor="t"/>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722313" y="3852863"/>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92B681-B30E-4FA2-80BE-8EB08DA6D0DC}" type="datetimeFigureOut">
              <a:rPr lang="en-US" smtClean="0"/>
              <a:t>11/15/2019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79E748-EDDD-4A61-BB38-C01CD4BB205C}"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96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092B681-B30E-4FA2-80BE-8EB08DA6D0DC}" type="datetimeFigureOut">
              <a:rPr lang="en-US" smtClean="0"/>
              <a:t>11/15/2019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79E748-EDDD-4A61-BB38-C01CD4BB205C}"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196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4196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092B681-B30E-4FA2-80BE-8EB08DA6D0DC}" type="datetimeFigureOut">
              <a:rPr lang="en-US" smtClean="0"/>
              <a:t>11/15/2019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879E748-EDDD-4A61-BB38-C01CD4BB205C}"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092B681-B30E-4FA2-80BE-8EB08DA6D0DC}" type="datetimeFigureOut">
              <a:rPr lang="en-US" smtClean="0"/>
              <a:t>11/15/2019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879E748-EDDD-4A61-BB38-C01CD4BB205C}"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92B681-B30E-4FA2-80BE-8EB08DA6D0DC}" type="datetimeFigureOut">
              <a:rPr lang="en-US" smtClean="0"/>
              <a:t>11/15/2019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879E748-EDDD-4A61-BB38-C01CD4BB205C}"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1" y="5495544"/>
            <a:ext cx="7772400" cy="594360"/>
          </a:xfrm>
        </p:spPr>
        <p:txBody>
          <a:bodyPr anchor="b"/>
          <a:lstStyle>
            <a:lvl1pPr algn="ctr">
              <a:defRPr sz="2200" b="1"/>
            </a:lvl1pPr>
          </a:lstStyle>
          <a:p>
            <a:r>
              <a:rPr lang="en-US"/>
              <a:t>Click to edit Master title style</a:t>
            </a:r>
            <a:endParaRPr lang="en-US" dirty="0"/>
          </a:p>
        </p:txBody>
      </p:sp>
      <p:sp>
        <p:nvSpPr>
          <p:cNvPr id="4" name="Text Placeholder 3"/>
          <p:cNvSpPr>
            <a:spLocks noGrp="1"/>
          </p:cNvSpPr>
          <p:nvPr>
            <p:ph type="body" sz="half" idx="2"/>
          </p:nvPr>
        </p:nvSpPr>
        <p:spPr>
          <a:xfrm>
            <a:off x="304799" y="6096000"/>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092B681-B30E-4FA2-80BE-8EB08DA6D0DC}" type="datetimeFigureOut">
              <a:rPr lang="en-US" smtClean="0"/>
              <a:t>11/15/2019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79E748-EDDD-4A61-BB38-C01CD4BB205C}" type="slidenum">
              <a:rPr lang="en-US" smtClean="0"/>
              <a:t>‹#›</a:t>
            </a:fld>
            <a:endParaRPr lang="en-US"/>
          </a:p>
        </p:txBody>
      </p:sp>
      <p:sp>
        <p:nvSpPr>
          <p:cNvPr id="9" name="Content Placeholder 8"/>
          <p:cNvSpPr>
            <a:spLocks noGrp="1"/>
          </p:cNvSpPr>
          <p:nvPr>
            <p:ph sz="quarter" idx="13"/>
          </p:nvPr>
        </p:nvSpPr>
        <p:spPr>
          <a:xfrm>
            <a:off x="304800" y="381000"/>
            <a:ext cx="7772400" cy="4942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0" y="0"/>
            <a:ext cx="84582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301752" y="6096000"/>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4092B681-B30E-4FA2-80BE-8EB08DA6D0DC}" type="datetimeFigureOut">
              <a:rPr lang="en-US" smtClean="0"/>
              <a:t>11/15/2019</a:t>
            </a:fld>
            <a:endParaRPr lang="en-US"/>
          </a:p>
        </p:txBody>
      </p:sp>
      <p:sp>
        <p:nvSpPr>
          <p:cNvPr id="9" name="Slide Number Placeholder 8"/>
          <p:cNvSpPr>
            <a:spLocks noGrp="1"/>
          </p:cNvSpPr>
          <p:nvPr>
            <p:ph type="sldNum" sz="quarter" idx="11"/>
          </p:nvPr>
        </p:nvSpPr>
        <p:spPr/>
        <p:txBody>
          <a:bodyPr/>
          <a:lstStyle/>
          <a:p>
            <a:fld id="{7879E748-EDDD-4A61-BB38-C01CD4BB205C}" type="slidenum">
              <a:rPr lang="en-US" smtClean="0"/>
              <a:t>‹#›</a:t>
            </a:fld>
            <a:endParaRPr lang="en-US"/>
          </a:p>
        </p:txBody>
      </p:sp>
      <p:sp>
        <p:nvSpPr>
          <p:cNvPr id="10" name="Footer Placeholder 9"/>
          <p:cNvSpPr>
            <a:spLocks noGrp="1"/>
          </p:cNvSpPr>
          <p:nvPr>
            <p:ph type="ftr" sz="quarter" idx="12"/>
          </p:nvPr>
        </p:nvSpPr>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092B681-B30E-4FA2-80BE-8EB08DA6D0DC}" type="datetimeFigureOut">
              <a:rPr lang="en-US" smtClean="0"/>
              <a:t>11/15/2019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79E748-EDDD-4A61-BB38-C01CD4BB205C}"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1752600" cy="58515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092B681-B30E-4FA2-80BE-8EB08DA6D0DC}" type="datetimeFigureOut">
              <a:rPr lang="en-US" smtClean="0"/>
              <a:t>11/15/2019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79E748-EDDD-4A61-BB38-C01CD4BB205C}"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7620000" cy="114300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7620000" cy="4800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8458200" y="0"/>
            <a:ext cx="6858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458200" y="5486400"/>
            <a:ext cx="6858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4"/>
          </p:nvPr>
        </p:nvSpPr>
        <p:spPr>
          <a:xfrm>
            <a:off x="8531788" y="5648960"/>
            <a:ext cx="54864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7879E748-EDDD-4A61-BB38-C01CD4BB205C}" type="slidenum">
              <a:rPr lang="en-US" smtClean="0"/>
              <a:t>‹#›</a:t>
            </a:fld>
            <a:endParaRPr lang="en-US"/>
          </a:p>
        </p:txBody>
      </p:sp>
      <p:sp>
        <p:nvSpPr>
          <p:cNvPr id="5" name="Footer Placeholder 4"/>
          <p:cNvSpPr>
            <a:spLocks noGrp="1"/>
          </p:cNvSpPr>
          <p:nvPr>
            <p:ph type="ftr" sz="quarter" idx="3"/>
          </p:nvPr>
        </p:nvSpPr>
        <p:spPr>
          <a:xfrm rot="16200000">
            <a:off x="7586910" y="4048760"/>
            <a:ext cx="2367281" cy="365760"/>
          </a:xfrm>
          <a:prstGeom prst="rect">
            <a:avLst/>
          </a:prstGeom>
        </p:spPr>
        <p:txBody>
          <a:bodyPr vert="horz" lIns="91440" tIns="45720" rIns="91440" bIns="45720" rtlCol="0" anchor="ctr"/>
          <a:lstStyle>
            <a:lvl1pPr algn="r">
              <a:defRPr sz="1200">
                <a:solidFill>
                  <a:schemeClr val="bg2"/>
                </a:solidFill>
              </a:defRPr>
            </a:lvl1pPr>
          </a:lstStyle>
          <a:p>
            <a:endParaRPr lang="en-US"/>
          </a:p>
        </p:txBody>
      </p:sp>
      <p:sp>
        <p:nvSpPr>
          <p:cNvPr id="4" name="Date Placeholder 3"/>
          <p:cNvSpPr>
            <a:spLocks noGrp="1"/>
          </p:cNvSpPr>
          <p:nvPr>
            <p:ph type="dt" sz="half" idx="2"/>
          </p:nvPr>
        </p:nvSpPr>
        <p:spPr>
          <a:xfrm rot="16200000">
            <a:off x="7551351" y="1645920"/>
            <a:ext cx="2438399" cy="365760"/>
          </a:xfrm>
          <a:prstGeom prst="rect">
            <a:avLst/>
          </a:prstGeom>
        </p:spPr>
        <p:txBody>
          <a:bodyPr vert="horz" lIns="91440" tIns="45720" rIns="91440" bIns="45720" rtlCol="0" anchor="ctr"/>
          <a:lstStyle>
            <a:lvl1pPr algn="l">
              <a:defRPr sz="1200">
                <a:solidFill>
                  <a:schemeClr val="bg2"/>
                </a:solidFill>
              </a:defRPr>
            </a:lvl1pPr>
          </a:lstStyle>
          <a:p>
            <a:fld id="{4092B681-B30E-4FA2-80BE-8EB08DA6D0DC}" type="datetimeFigureOut">
              <a:rPr lang="en-US" smtClean="0"/>
              <a:t>11/15/2019</a:t>
            </a:fld>
            <a:endParaRPr 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2.png"/><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9.jpg"/><Relationship Id="rId5" Type="http://schemas.openxmlformats.org/officeDocument/2006/relationships/image" Target="../media/image8.jpg"/><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4.jpg"/></Relationships>
</file>

<file path=ppt/slides/_rels/slide1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gif"/><Relationship Id="rId7" Type="http://schemas.openxmlformats.org/officeDocument/2006/relationships/comments" Target="../comments/comment1.xml"/><Relationship Id="rId2" Type="http://schemas.openxmlformats.org/officeDocument/2006/relationships/image" Target="../media/image18.gif"/><Relationship Id="rId1" Type="http://schemas.openxmlformats.org/officeDocument/2006/relationships/slideLayout" Target="../slideLayouts/slideLayout1.xml"/><Relationship Id="rId6" Type="http://schemas.openxmlformats.org/officeDocument/2006/relationships/image" Target="../media/image22.jpg"/><Relationship Id="rId5" Type="http://schemas.openxmlformats.org/officeDocument/2006/relationships/image" Target="../media/image21.jpg"/><Relationship Id="rId4" Type="http://schemas.openxmlformats.org/officeDocument/2006/relationships/image" Target="../media/image20.jpg"/></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1752600" y="0"/>
            <a:ext cx="6826542" cy="6858000"/>
          </a:xfrm>
          <a:prstGeom prst="rect">
            <a:avLst/>
          </a:prstGeom>
        </p:spPr>
      </p:pic>
      <p:sp>
        <p:nvSpPr>
          <p:cNvPr id="2" name="Title 1"/>
          <p:cNvSpPr>
            <a:spLocks noGrp="1"/>
          </p:cNvSpPr>
          <p:nvPr>
            <p:ph type="ctrTitle"/>
          </p:nvPr>
        </p:nvSpPr>
        <p:spPr/>
        <p:txBody>
          <a:bodyPr/>
          <a:lstStyle/>
          <a:p>
            <a:r>
              <a:rPr lang="en-US" dirty="0">
                <a:solidFill>
                  <a:schemeClr val="tx1"/>
                </a:solidFill>
                <a:latin typeface="Aharoni" pitchFamily="2" charset="-79"/>
                <a:cs typeface="Aharoni" pitchFamily="2" charset="-79"/>
              </a:rPr>
              <a:t>Barcode/QR Code Technology</a:t>
            </a:r>
          </a:p>
        </p:txBody>
      </p:sp>
      <p:sp>
        <p:nvSpPr>
          <p:cNvPr id="3" name="Subtitle 2"/>
          <p:cNvSpPr>
            <a:spLocks noGrp="1"/>
          </p:cNvSpPr>
          <p:nvPr>
            <p:ph type="subTitle" idx="1"/>
          </p:nvPr>
        </p:nvSpPr>
        <p:spPr>
          <a:xfrm>
            <a:off x="685800" y="4572000"/>
            <a:ext cx="6461760" cy="2438400"/>
          </a:xfrm>
        </p:spPr>
        <p:txBody>
          <a:bodyPr>
            <a:normAutofit/>
          </a:bodyPr>
          <a:lstStyle/>
          <a:p>
            <a:r>
              <a:rPr lang="en-US" b="1" u="sng" dirty="0">
                <a:solidFill>
                  <a:schemeClr val="tx1"/>
                </a:solidFill>
                <a:latin typeface="Aharoni" pitchFamily="2" charset="-79"/>
                <a:cs typeface="Aharoni" pitchFamily="2" charset="-79"/>
              </a:rPr>
              <a:t>Presentation by:  EEE B3</a:t>
            </a:r>
          </a:p>
          <a:p>
            <a:r>
              <a:rPr lang="en-US" dirty="0">
                <a:solidFill>
                  <a:schemeClr val="tx1"/>
                </a:solidFill>
                <a:latin typeface="Aharoni" pitchFamily="2" charset="-79"/>
                <a:cs typeface="Aharoni" pitchFamily="2" charset="-79"/>
              </a:rPr>
              <a:t>             -Vivek Ranjan                    </a:t>
            </a:r>
            <a:r>
              <a:rPr lang="en-US" sz="2800" dirty="0">
                <a:solidFill>
                  <a:schemeClr val="tx1"/>
                </a:solidFill>
                <a:latin typeface="Aharoni" pitchFamily="2" charset="-79"/>
                <a:cs typeface="Aharoni" pitchFamily="2" charset="-79"/>
              </a:rPr>
              <a:t>1</a:t>
            </a:r>
            <a:r>
              <a:rPr lang="en-US" dirty="0">
                <a:solidFill>
                  <a:schemeClr val="tx1"/>
                </a:solidFill>
                <a:latin typeface="Aharoni" pitchFamily="2" charset="-79"/>
                <a:cs typeface="Aharoni" pitchFamily="2" charset="-79"/>
              </a:rPr>
              <a:t>NH</a:t>
            </a:r>
            <a:r>
              <a:rPr lang="en-US" sz="2800" dirty="0">
                <a:solidFill>
                  <a:schemeClr val="tx1"/>
                </a:solidFill>
                <a:latin typeface="Aharoni" pitchFamily="2" charset="-79"/>
                <a:cs typeface="Aharoni" pitchFamily="2" charset="-79"/>
              </a:rPr>
              <a:t>18</a:t>
            </a:r>
            <a:r>
              <a:rPr lang="en-US" dirty="0">
                <a:solidFill>
                  <a:schemeClr val="tx1"/>
                </a:solidFill>
                <a:latin typeface="Aharoni" pitchFamily="2" charset="-79"/>
                <a:cs typeface="Aharoni" pitchFamily="2" charset="-79"/>
              </a:rPr>
              <a:t>ME</a:t>
            </a:r>
            <a:r>
              <a:rPr lang="en-US" sz="2800" dirty="0">
                <a:solidFill>
                  <a:schemeClr val="tx1"/>
                </a:solidFill>
                <a:latin typeface="Aharoni" pitchFamily="2" charset="-79"/>
                <a:cs typeface="Aharoni" pitchFamily="2" charset="-79"/>
              </a:rPr>
              <a:t>124</a:t>
            </a:r>
          </a:p>
          <a:p>
            <a:r>
              <a:rPr lang="en-US" dirty="0">
                <a:solidFill>
                  <a:schemeClr val="tx1"/>
                </a:solidFill>
                <a:latin typeface="Aharoni" pitchFamily="2" charset="-79"/>
                <a:cs typeface="Aharoni" pitchFamily="2" charset="-79"/>
              </a:rPr>
              <a:t>	-</a:t>
            </a:r>
            <a:r>
              <a:rPr lang="en-US" dirty="0" err="1">
                <a:solidFill>
                  <a:schemeClr val="tx1"/>
                </a:solidFill>
                <a:latin typeface="Aharoni" pitchFamily="2" charset="-79"/>
                <a:cs typeface="Aharoni" pitchFamily="2" charset="-79"/>
              </a:rPr>
              <a:t>Barathesh</a:t>
            </a:r>
            <a:r>
              <a:rPr lang="en-US" dirty="0">
                <a:solidFill>
                  <a:schemeClr val="tx1"/>
                </a:solidFill>
                <a:latin typeface="Aharoni" pitchFamily="2" charset="-79"/>
                <a:cs typeface="Aharoni" pitchFamily="2" charset="-79"/>
              </a:rPr>
              <a:t> </a:t>
            </a:r>
            <a:r>
              <a:rPr lang="en-US" dirty="0" err="1">
                <a:solidFill>
                  <a:schemeClr val="tx1"/>
                </a:solidFill>
                <a:latin typeface="Aharoni" pitchFamily="2" charset="-79"/>
                <a:cs typeface="Aharoni" pitchFamily="2" charset="-79"/>
              </a:rPr>
              <a:t>Shiradoni</a:t>
            </a:r>
            <a:r>
              <a:rPr lang="en-US" dirty="0">
                <a:solidFill>
                  <a:schemeClr val="tx1"/>
                </a:solidFill>
                <a:latin typeface="Aharoni" pitchFamily="2" charset="-79"/>
                <a:cs typeface="Aharoni" pitchFamily="2" charset="-79"/>
              </a:rPr>
              <a:t>        </a:t>
            </a:r>
            <a:r>
              <a:rPr lang="en-US" sz="2800" dirty="0">
                <a:solidFill>
                  <a:schemeClr val="tx1"/>
                </a:solidFill>
                <a:latin typeface="Aharoni" pitchFamily="2" charset="-79"/>
                <a:cs typeface="Aharoni" pitchFamily="2" charset="-79"/>
              </a:rPr>
              <a:t>1</a:t>
            </a:r>
            <a:r>
              <a:rPr lang="en-US" dirty="0">
                <a:solidFill>
                  <a:schemeClr val="tx1"/>
                </a:solidFill>
                <a:latin typeface="Aharoni" pitchFamily="2" charset="-79"/>
                <a:cs typeface="Aharoni" pitchFamily="2" charset="-79"/>
              </a:rPr>
              <a:t>NH</a:t>
            </a:r>
            <a:r>
              <a:rPr lang="en-US" sz="2800" dirty="0">
                <a:solidFill>
                  <a:schemeClr val="tx1"/>
                </a:solidFill>
                <a:latin typeface="Aharoni" pitchFamily="2" charset="-79"/>
                <a:cs typeface="Aharoni" pitchFamily="2" charset="-79"/>
              </a:rPr>
              <a:t>18</a:t>
            </a:r>
            <a:r>
              <a:rPr lang="en-US" dirty="0">
                <a:solidFill>
                  <a:schemeClr val="tx1"/>
                </a:solidFill>
                <a:latin typeface="Aharoni" pitchFamily="2" charset="-79"/>
                <a:cs typeface="Aharoni" pitchFamily="2" charset="-79"/>
              </a:rPr>
              <a:t>EE</a:t>
            </a:r>
            <a:r>
              <a:rPr lang="en-US" sz="2800" dirty="0">
                <a:solidFill>
                  <a:schemeClr val="tx1"/>
                </a:solidFill>
                <a:latin typeface="Aharoni" pitchFamily="2" charset="-79"/>
                <a:cs typeface="Aharoni" pitchFamily="2" charset="-79"/>
              </a:rPr>
              <a:t>707</a:t>
            </a:r>
          </a:p>
          <a:p>
            <a:r>
              <a:rPr lang="en-US" dirty="0">
                <a:solidFill>
                  <a:schemeClr val="tx1"/>
                </a:solidFill>
                <a:latin typeface="Aharoni" pitchFamily="2" charset="-79"/>
                <a:cs typeface="Aharoni" pitchFamily="2" charset="-79"/>
              </a:rPr>
              <a:t>	-Pavan R                             </a:t>
            </a:r>
            <a:r>
              <a:rPr lang="en-US" sz="2800" dirty="0">
                <a:solidFill>
                  <a:schemeClr val="tx1"/>
                </a:solidFill>
                <a:latin typeface="Aharoni" pitchFamily="2" charset="-79"/>
                <a:cs typeface="Aharoni" pitchFamily="2" charset="-79"/>
              </a:rPr>
              <a:t>1</a:t>
            </a:r>
            <a:r>
              <a:rPr lang="en-US" dirty="0">
                <a:solidFill>
                  <a:schemeClr val="tx1"/>
                </a:solidFill>
                <a:latin typeface="Aharoni" pitchFamily="2" charset="-79"/>
                <a:cs typeface="Aharoni" pitchFamily="2" charset="-79"/>
              </a:rPr>
              <a:t>NH</a:t>
            </a:r>
            <a:r>
              <a:rPr lang="en-US" sz="2800" dirty="0">
                <a:solidFill>
                  <a:schemeClr val="tx1"/>
                </a:solidFill>
                <a:latin typeface="Aharoni" pitchFamily="2" charset="-79"/>
                <a:cs typeface="Aharoni" pitchFamily="2" charset="-79"/>
              </a:rPr>
              <a:t>18</a:t>
            </a:r>
            <a:r>
              <a:rPr lang="en-US" dirty="0">
                <a:solidFill>
                  <a:schemeClr val="tx1"/>
                </a:solidFill>
                <a:latin typeface="Aharoni" pitchFamily="2" charset="-79"/>
                <a:cs typeface="Aharoni" pitchFamily="2" charset="-79"/>
              </a:rPr>
              <a:t>ME</a:t>
            </a:r>
            <a:r>
              <a:rPr lang="en-US" sz="2800" dirty="0">
                <a:solidFill>
                  <a:schemeClr val="tx1"/>
                </a:solidFill>
                <a:latin typeface="Aharoni" pitchFamily="2" charset="-79"/>
                <a:cs typeface="Aharoni" pitchFamily="2" charset="-79"/>
              </a:rPr>
              <a:t>086</a:t>
            </a:r>
          </a:p>
        </p:txBody>
      </p:sp>
    </p:spTree>
    <p:extLst>
      <p:ext uri="{BB962C8B-B14F-4D97-AF65-F5344CB8AC3E}">
        <p14:creationId xmlns:p14="http://schemas.microsoft.com/office/powerpoint/2010/main" val="24153347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1752600" y="0"/>
            <a:ext cx="6826542" cy="6858000"/>
          </a:xfrm>
          <a:prstGeom prst="rect">
            <a:avLst/>
          </a:prstGeom>
        </p:spPr>
      </p:pic>
      <p:sp>
        <p:nvSpPr>
          <p:cNvPr id="8" name="Content Placeholder 7">
            <a:extLst>
              <a:ext uri="{FF2B5EF4-FFF2-40B4-BE49-F238E27FC236}">
                <a16:creationId xmlns:a16="http://schemas.microsoft.com/office/drawing/2014/main" id="{D001DF2B-3D97-48BD-85F2-E57BF4BB3611}"/>
              </a:ext>
            </a:extLst>
          </p:cNvPr>
          <p:cNvSpPr>
            <a:spLocks noGrp="1"/>
          </p:cNvSpPr>
          <p:nvPr>
            <p:ph idx="1"/>
          </p:nvPr>
        </p:nvSpPr>
        <p:spPr>
          <a:xfrm>
            <a:off x="228600" y="76200"/>
            <a:ext cx="7620000" cy="4800600"/>
          </a:xfrm>
        </p:spPr>
        <p:txBody>
          <a:bodyPr/>
          <a:lstStyle/>
          <a:p>
            <a:endParaRPr lang="en-US" dirty="0"/>
          </a:p>
          <a:p>
            <a:r>
              <a:rPr lang="en-US" sz="4600" b="1" dirty="0"/>
              <a:t>INTRODUCTION</a:t>
            </a:r>
          </a:p>
          <a:p>
            <a:endParaRPr lang="en-US" dirty="0"/>
          </a:p>
          <a:p>
            <a:endParaRPr lang="en-US" dirty="0"/>
          </a:p>
          <a:p>
            <a:r>
              <a:rPr lang="en-US" dirty="0"/>
              <a:t>The electro magnetic waves are radiated into space which are received by the antenna on the receiver </a:t>
            </a:r>
          </a:p>
          <a:p>
            <a:r>
              <a:rPr lang="en-US" dirty="0"/>
              <a:t>To further store any data the experiment requires </a:t>
            </a:r>
            <a:r>
              <a:rPr lang="en-US" dirty="0" err="1"/>
              <a:t>aurdino</a:t>
            </a:r>
            <a:r>
              <a:rPr lang="en-US" dirty="0"/>
              <a:t>  and</a:t>
            </a:r>
          </a:p>
          <a:p>
            <a:r>
              <a:rPr lang="en-US" dirty="0"/>
              <a:t>Software assist to work as a </a:t>
            </a:r>
            <a:r>
              <a:rPr lang="en-US" dirty="0" err="1"/>
              <a:t>nft</a:t>
            </a:r>
            <a:r>
              <a:rPr lang="en-US" dirty="0"/>
              <a:t> or </a:t>
            </a:r>
            <a:r>
              <a:rPr lang="en-US" dirty="0" err="1"/>
              <a:t>rfid</a:t>
            </a:r>
            <a:r>
              <a:rPr lang="en-US" dirty="0"/>
              <a:t> tag.</a:t>
            </a:r>
          </a:p>
        </p:txBody>
      </p:sp>
      <p:sp>
        <p:nvSpPr>
          <p:cNvPr id="12" name="TextBox 11">
            <a:extLst>
              <a:ext uri="{FF2B5EF4-FFF2-40B4-BE49-F238E27FC236}">
                <a16:creationId xmlns:a16="http://schemas.microsoft.com/office/drawing/2014/main" id="{98075C65-94E4-41ED-9504-710FF0C785C3}"/>
              </a:ext>
            </a:extLst>
          </p:cNvPr>
          <p:cNvSpPr txBox="1"/>
          <p:nvPr/>
        </p:nvSpPr>
        <p:spPr>
          <a:xfrm>
            <a:off x="560148" y="3657600"/>
            <a:ext cx="8426409" cy="1107996"/>
          </a:xfrm>
          <a:prstGeom prst="rect">
            <a:avLst/>
          </a:prstGeom>
          <a:noFill/>
        </p:spPr>
        <p:txBody>
          <a:bodyPr wrap="none" rtlCol="0">
            <a:spAutoFit/>
          </a:bodyPr>
          <a:lstStyle/>
          <a:p>
            <a:r>
              <a:rPr lang="en-US" sz="2200" dirty="0"/>
              <a:t>The </a:t>
            </a:r>
            <a:r>
              <a:rPr lang="en-US" sz="2200" dirty="0" err="1"/>
              <a:t>rfid</a:t>
            </a:r>
            <a:r>
              <a:rPr lang="en-US" sz="2200" dirty="0"/>
              <a:t> requires a inbuilt battery which charges and discharges while in </a:t>
            </a:r>
          </a:p>
          <a:p>
            <a:r>
              <a:rPr lang="en-US" sz="2200" dirty="0"/>
              <a:t>contact  with the </a:t>
            </a:r>
            <a:r>
              <a:rPr lang="en-US" sz="2200" dirty="0" err="1"/>
              <a:t>reciver</a:t>
            </a:r>
            <a:r>
              <a:rPr lang="en-US" sz="2200" dirty="0"/>
              <a:t> but it is removed and instead a </a:t>
            </a:r>
            <a:r>
              <a:rPr lang="en-US" sz="2200" dirty="0" err="1"/>
              <a:t>em</a:t>
            </a:r>
            <a:r>
              <a:rPr lang="en-US" sz="2200" dirty="0"/>
              <a:t> coils are </a:t>
            </a:r>
          </a:p>
          <a:p>
            <a:r>
              <a:rPr lang="en-US" sz="2200" dirty="0"/>
              <a:t>Connected to  activate the circuit </a:t>
            </a:r>
          </a:p>
        </p:txBody>
      </p:sp>
    </p:spTree>
    <p:extLst>
      <p:ext uri="{BB962C8B-B14F-4D97-AF65-F5344CB8AC3E}">
        <p14:creationId xmlns:p14="http://schemas.microsoft.com/office/powerpoint/2010/main" val="37329097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1752600" y="0"/>
            <a:ext cx="6826542" cy="6858000"/>
          </a:xfrm>
          <a:prstGeom prst="rect">
            <a:avLst/>
          </a:prstGeom>
        </p:spPr>
      </p:pic>
      <p:sp>
        <p:nvSpPr>
          <p:cNvPr id="2" name="Title 1"/>
          <p:cNvSpPr>
            <a:spLocks noGrp="1"/>
          </p:cNvSpPr>
          <p:nvPr>
            <p:ph type="title"/>
          </p:nvPr>
        </p:nvSpPr>
        <p:spPr/>
        <p:txBody>
          <a:bodyPr/>
          <a:lstStyle/>
          <a:p>
            <a:r>
              <a:rPr lang="en-US" b="1" u="sng" dirty="0">
                <a:solidFill>
                  <a:schemeClr val="tx1"/>
                </a:solidFill>
                <a:cs typeface="Aharoni" pitchFamily="2" charset="-79"/>
              </a:rPr>
              <a:t>Roadmap</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Ø"/>
            </a:pPr>
            <a:r>
              <a:rPr lang="en-US" sz="2800" dirty="0">
                <a:cs typeface="Aharoni" pitchFamily="2" charset="-79"/>
              </a:rPr>
              <a:t>Abstract </a:t>
            </a:r>
          </a:p>
          <a:p>
            <a:pPr>
              <a:buFont typeface="Wingdings" panose="05000000000000000000" pitchFamily="2" charset="2"/>
              <a:buChar char="Ø"/>
            </a:pPr>
            <a:r>
              <a:rPr lang="en-US" sz="2800" dirty="0">
                <a:cs typeface="Aharoni" pitchFamily="2" charset="-79"/>
              </a:rPr>
              <a:t>Objectives of project</a:t>
            </a:r>
          </a:p>
          <a:p>
            <a:pPr>
              <a:buFont typeface="Wingdings" panose="05000000000000000000" pitchFamily="2" charset="2"/>
              <a:buChar char="Ø"/>
            </a:pPr>
            <a:r>
              <a:rPr lang="en-US" sz="2800" dirty="0" err="1">
                <a:cs typeface="Aharoni" pitchFamily="2" charset="-79"/>
              </a:rPr>
              <a:t>Litrerature</a:t>
            </a:r>
            <a:r>
              <a:rPr lang="en-US" sz="2800" dirty="0">
                <a:cs typeface="Aharoni" pitchFamily="2" charset="-79"/>
              </a:rPr>
              <a:t> survey</a:t>
            </a:r>
          </a:p>
          <a:p>
            <a:pPr>
              <a:buFont typeface="Wingdings" panose="05000000000000000000" pitchFamily="2" charset="2"/>
              <a:buChar char="Ø"/>
            </a:pPr>
            <a:r>
              <a:rPr lang="en-US" sz="2800" dirty="0">
                <a:cs typeface="Aharoni" pitchFamily="2" charset="-79"/>
              </a:rPr>
              <a:t>Research gap</a:t>
            </a:r>
          </a:p>
          <a:p>
            <a:pPr>
              <a:buFont typeface="Wingdings" panose="05000000000000000000" pitchFamily="2" charset="2"/>
              <a:buChar char="Ø"/>
            </a:pPr>
            <a:r>
              <a:rPr lang="en-US" sz="2800" dirty="0">
                <a:cs typeface="Aharoni" pitchFamily="2" charset="-79"/>
              </a:rPr>
              <a:t>Methodology</a:t>
            </a:r>
          </a:p>
          <a:p>
            <a:pPr>
              <a:buFont typeface="Wingdings" panose="05000000000000000000" pitchFamily="2" charset="2"/>
              <a:buChar char="Ø"/>
            </a:pPr>
            <a:r>
              <a:rPr lang="en-US" sz="2800" dirty="0">
                <a:cs typeface="Aharoni" pitchFamily="2" charset="-79"/>
              </a:rPr>
              <a:t>Implementation schedule</a:t>
            </a:r>
          </a:p>
          <a:p>
            <a:endParaRPr lang="en-US" sz="2800" dirty="0">
              <a:cs typeface="Aharoni" pitchFamily="2" charset="-79"/>
            </a:endParaRPr>
          </a:p>
        </p:txBody>
      </p:sp>
    </p:spTree>
    <p:extLst>
      <p:ext uri="{BB962C8B-B14F-4D97-AF65-F5344CB8AC3E}">
        <p14:creationId xmlns:p14="http://schemas.microsoft.com/office/powerpoint/2010/main" val="23652231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N The supply chain,a warehouse is acrucial component for linking all linking all chain parties . It is necessary to track the real time resource location and satus to support warehouse operation effectively. &#10;">
            <a:extLst>
              <a:ext uri="{FF2B5EF4-FFF2-40B4-BE49-F238E27FC236}">
                <a16:creationId xmlns:a16="http://schemas.microsoft.com/office/drawing/2014/main" id="{AD5DFE45-C97A-4FF8-ABB9-8CE47D81DC2A}"/>
              </a:ext>
              <a:ext uri="{C183D7F6-B498-43B3-948B-1728B52AA6E4}">
                <adec:decorative xmlns:adec="http://schemas.microsoft.com/office/drawing/2017/decorative" val="0"/>
              </a:ext>
            </a:extLst>
          </p:cNvPr>
          <p:cNvPicPr>
            <a:picLocks noChangeAspect="1"/>
          </p:cNvPicPr>
          <p:nvPr/>
        </p:nvPicPr>
        <p:blipFill>
          <a:blip r:embed="rId2">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152400" y="76200"/>
            <a:ext cx="6826542" cy="6858000"/>
          </a:xfrm>
          <a:prstGeom prst="rect">
            <a:avLst/>
          </a:prstGeom>
        </p:spPr>
      </p:pic>
      <p:sp>
        <p:nvSpPr>
          <p:cNvPr id="5" name="Title 1">
            <a:extLst>
              <a:ext uri="{FF2B5EF4-FFF2-40B4-BE49-F238E27FC236}">
                <a16:creationId xmlns:a16="http://schemas.microsoft.com/office/drawing/2014/main" id="{0774B6B7-A5F6-45A5-B4BE-A250C02DB227}"/>
              </a:ext>
            </a:extLst>
          </p:cNvPr>
          <p:cNvSpPr txBox="1">
            <a:spLocks/>
          </p:cNvSpPr>
          <p:nvPr/>
        </p:nvSpPr>
        <p:spPr>
          <a:xfrm>
            <a:off x="457200" y="152400"/>
            <a:ext cx="7315200" cy="868362"/>
          </a:xfrm>
          <a:prstGeom prst="rect">
            <a:avLst/>
          </a:prstGeom>
        </p:spPr>
        <p:txBody>
          <a:bodyPr vert="horz" lIns="91440" tIns="45720" rIns="91440" bIns="45720" rtlCol="0" anchor="b">
            <a:noAutofit/>
          </a:bodyPr>
          <a:lstStyle>
            <a:lvl1pPr algn="l" defTabSz="914400" rtl="0" eaLnBrk="1" latinLnBrk="0" hangingPunct="1">
              <a:spcBef>
                <a:spcPct val="0"/>
              </a:spcBef>
              <a:buNone/>
              <a:defRPr sz="6600" kern="1200" cap="none" spc="-100" baseline="0">
                <a:ln>
                  <a:noFill/>
                </a:ln>
                <a:solidFill>
                  <a:schemeClr val="tx2"/>
                </a:solidFill>
                <a:effectLst/>
                <a:latin typeface="+mj-lt"/>
                <a:ea typeface="+mj-ea"/>
                <a:cs typeface="+mj-cs"/>
              </a:defRPr>
            </a:lvl1pPr>
          </a:lstStyle>
          <a:p>
            <a:pPr marL="685800" indent="-685800">
              <a:buFont typeface="Wingdings" panose="05000000000000000000" pitchFamily="2" charset="2"/>
              <a:buChar char="Ø"/>
            </a:pPr>
            <a:endParaRPr lang="en-US" dirty="0">
              <a:solidFill>
                <a:schemeClr val="tx1"/>
              </a:solidFill>
              <a:latin typeface="Aharoni" pitchFamily="2" charset="-79"/>
              <a:cs typeface="Aharoni" pitchFamily="2" charset="-79"/>
            </a:endParaRPr>
          </a:p>
          <a:p>
            <a:pPr marL="685800" indent="-685800">
              <a:buFont typeface="Wingdings" panose="05000000000000000000" pitchFamily="2" charset="2"/>
              <a:buChar char="Ø"/>
            </a:pPr>
            <a:endParaRPr lang="en-US" dirty="0">
              <a:solidFill>
                <a:schemeClr val="tx1"/>
              </a:solidFill>
              <a:latin typeface="Aharoni" pitchFamily="2" charset="-79"/>
              <a:cs typeface="Aharoni" pitchFamily="2" charset="-79"/>
            </a:endParaRPr>
          </a:p>
          <a:p>
            <a:pPr marL="685800" indent="-685800">
              <a:buFont typeface="Wingdings" panose="05000000000000000000" pitchFamily="2" charset="2"/>
              <a:buChar char="Ø"/>
            </a:pPr>
            <a:r>
              <a:rPr lang="en-US" sz="4400" dirty="0">
                <a:solidFill>
                  <a:schemeClr val="tx1"/>
                </a:solidFill>
                <a:latin typeface="Aharoni" pitchFamily="2" charset="-79"/>
                <a:cs typeface="Aharoni" pitchFamily="2" charset="-79"/>
              </a:rPr>
              <a:t>Abstract</a:t>
            </a:r>
            <a:r>
              <a:rPr lang="en-US" dirty="0">
                <a:solidFill>
                  <a:schemeClr val="tx1"/>
                </a:solidFill>
                <a:latin typeface="Aharoni" pitchFamily="2" charset="-79"/>
                <a:cs typeface="Aharoni" pitchFamily="2" charset="-79"/>
              </a:rPr>
              <a:t> </a:t>
            </a:r>
          </a:p>
        </p:txBody>
      </p:sp>
      <p:sp>
        <p:nvSpPr>
          <p:cNvPr id="3" name="Rectangle 2">
            <a:extLst>
              <a:ext uri="{FF2B5EF4-FFF2-40B4-BE49-F238E27FC236}">
                <a16:creationId xmlns:a16="http://schemas.microsoft.com/office/drawing/2014/main" id="{26BB3C7F-4AD8-4F88-9B08-944CBCA8BD8C}"/>
              </a:ext>
            </a:extLst>
          </p:cNvPr>
          <p:cNvSpPr/>
          <p:nvPr/>
        </p:nvSpPr>
        <p:spPr>
          <a:xfrm>
            <a:off x="152400" y="914400"/>
            <a:ext cx="6705600" cy="6740307"/>
          </a:xfrm>
          <a:prstGeom prst="rect">
            <a:avLst/>
          </a:prstGeom>
        </p:spPr>
        <p:txBody>
          <a:bodyPr wrap="square">
            <a:spAutoFit/>
          </a:bodyPr>
          <a:lstStyle/>
          <a:p>
            <a:r>
              <a:rPr lang="en-US" dirty="0"/>
              <a:t>IN The supply </a:t>
            </a:r>
            <a:r>
              <a:rPr lang="en-US" dirty="0" err="1"/>
              <a:t>chain,a</a:t>
            </a:r>
            <a:r>
              <a:rPr lang="en-US" dirty="0"/>
              <a:t> warehouse is </a:t>
            </a:r>
            <a:r>
              <a:rPr lang="en-US" dirty="0" err="1"/>
              <a:t>acrucial</a:t>
            </a:r>
            <a:r>
              <a:rPr lang="en-US" dirty="0"/>
              <a:t> component for linking all linking all chain parties . It is necessary to track the real time resource location and </a:t>
            </a:r>
            <a:r>
              <a:rPr lang="en-US" dirty="0" err="1"/>
              <a:t>satus</a:t>
            </a:r>
            <a:r>
              <a:rPr lang="en-US" dirty="0"/>
              <a:t> to support warehouse operation </a:t>
            </a:r>
            <a:r>
              <a:rPr lang="en-US" dirty="0" err="1"/>
              <a:t>effectively.There</a:t>
            </a:r>
            <a:r>
              <a:rPr lang="en-US" dirty="0"/>
              <a:t> fore, RFID technology has been adopted to facilities the collection and sharing of data in a warehouse environment. However ,an essential decision should be made on the type of RFID tags the warehouse managers should </a:t>
            </a:r>
            <a:r>
              <a:rPr lang="en-US" dirty="0" err="1"/>
              <a:t>adopt,because</a:t>
            </a:r>
            <a:r>
              <a:rPr lang="en-US" dirty="0"/>
              <a:t> it is very important to implement RFID tags that work in warehouse environment .As a result ,the house enhance the productivity and reduce the operation costs of the </a:t>
            </a:r>
            <a:r>
              <a:rPr lang="en-US" dirty="0" err="1"/>
              <a:t>warehouse.Therefore</a:t>
            </a:r>
            <a:r>
              <a:rPr lang="en-US" dirty="0"/>
              <a:t> ,it is crucial to evaluate the reading performance of all types of RIFD tags which will enhance the operation cost of the warehouse .reading  performances of active and passive RFID tags ,which is battery-resisted  with greater sensitivity than  passive tags and cheaper than active tags ,has not been examined yet in a warehouse environment .This research is in progress research and it seeks to (1) provide a general overview of the existing real-time data management techniques in tracking warehouse </a:t>
            </a:r>
            <a:r>
              <a:rPr lang="en-US" dirty="0" err="1"/>
              <a:t>resourses</a:t>
            </a:r>
            <a:r>
              <a:rPr lang="en-US" dirty="0"/>
              <a:t> location (2)provide an overall conceptual framework that can  help warehouse managers to choose  the best RFID technologies for a warehouse environment (3)</a:t>
            </a:r>
            <a:r>
              <a:rPr lang="en-US" dirty="0" err="1"/>
              <a:t>finally,the</a:t>
            </a:r>
            <a:r>
              <a:rPr lang="en-US" dirty="0"/>
              <a:t> paper submits an experiment design for evaluating the reading performance of semi-passive RFID tags in a warehouse environment .</a:t>
            </a:r>
            <a:r>
              <a:rPr lang="en-US" dirty="0" err="1"/>
              <a:t>keywords:radio</a:t>
            </a:r>
            <a:r>
              <a:rPr lang="en-US" dirty="0"/>
              <a:t> frequency identification (RFID), reading performances, locating </a:t>
            </a:r>
            <a:r>
              <a:rPr lang="en-US"/>
              <a:t>warehouse resources.</a:t>
            </a:r>
            <a:endParaRPr lang="en-US" dirty="0"/>
          </a:p>
        </p:txBody>
      </p:sp>
    </p:spTree>
    <p:extLst>
      <p:ext uri="{BB962C8B-B14F-4D97-AF65-F5344CB8AC3E}">
        <p14:creationId xmlns:p14="http://schemas.microsoft.com/office/powerpoint/2010/main" val="37066421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D9BC5BB-E8F2-4AC9-AB5B-80D41683247D}"/>
              </a:ext>
            </a:extLst>
          </p:cNvPr>
          <p:cNvPicPr>
            <a:picLocks noChangeAspect="1"/>
          </p:cNvPicPr>
          <p:nvPr/>
        </p:nvPicPr>
        <p:blipFill>
          <a:blip r:embed="rId2">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1676400" y="0"/>
            <a:ext cx="6826542" cy="6858000"/>
          </a:xfrm>
          <a:prstGeom prst="rect">
            <a:avLst/>
          </a:prstGeom>
        </p:spPr>
      </p:pic>
      <p:sp>
        <p:nvSpPr>
          <p:cNvPr id="5" name="Subtitle 2">
            <a:extLst>
              <a:ext uri="{FF2B5EF4-FFF2-40B4-BE49-F238E27FC236}">
                <a16:creationId xmlns:a16="http://schemas.microsoft.com/office/drawing/2014/main" id="{7D35B992-334B-4448-A6B8-C40D932E1931}"/>
              </a:ext>
            </a:extLst>
          </p:cNvPr>
          <p:cNvSpPr>
            <a:spLocks noGrp="1"/>
          </p:cNvSpPr>
          <p:nvPr>
            <p:ph type="subTitle" idx="1"/>
          </p:nvPr>
        </p:nvSpPr>
        <p:spPr>
          <a:xfrm>
            <a:off x="457200" y="1117600"/>
            <a:ext cx="6461760" cy="3378200"/>
          </a:xfrm>
        </p:spPr>
        <p:txBody>
          <a:bodyPr>
            <a:normAutofit/>
          </a:bodyPr>
          <a:lstStyle/>
          <a:p>
            <a:endParaRPr lang="en-US" dirty="0">
              <a:solidFill>
                <a:schemeClr val="tx1"/>
              </a:solidFill>
            </a:endParaRPr>
          </a:p>
          <a:p>
            <a:r>
              <a:rPr lang="en-US" dirty="0">
                <a:solidFill>
                  <a:schemeClr val="tx1"/>
                </a:solidFill>
              </a:rPr>
              <a:t>The main objective of this project is basically about scanning the </a:t>
            </a:r>
            <a:r>
              <a:rPr lang="en-US" dirty="0" err="1">
                <a:solidFill>
                  <a:schemeClr val="tx1"/>
                </a:solidFill>
              </a:rPr>
              <a:t>QRcode</a:t>
            </a:r>
            <a:r>
              <a:rPr lang="en-US" dirty="0">
                <a:solidFill>
                  <a:schemeClr val="tx1"/>
                </a:solidFill>
              </a:rPr>
              <a:t> and is much more technical which replaces keyboard data entry because bar coding is much faster and more accurate than keyboard data entry. Its main advantage is that if it has any defect in its code then if it is </a:t>
            </a:r>
            <a:r>
              <a:rPr lang="en-US" dirty="0" err="1">
                <a:solidFill>
                  <a:schemeClr val="tx1"/>
                </a:solidFill>
              </a:rPr>
              <a:t>shaked</a:t>
            </a:r>
            <a:r>
              <a:rPr lang="en-US" dirty="0">
                <a:solidFill>
                  <a:schemeClr val="tx1"/>
                </a:solidFill>
              </a:rPr>
              <a:t> on its code then it scans the defect also</a:t>
            </a:r>
            <a:r>
              <a:rPr lang="en-US" dirty="0"/>
              <a:t>. </a:t>
            </a:r>
          </a:p>
        </p:txBody>
      </p:sp>
      <p:sp>
        <p:nvSpPr>
          <p:cNvPr id="6" name="Title 1">
            <a:extLst>
              <a:ext uri="{FF2B5EF4-FFF2-40B4-BE49-F238E27FC236}">
                <a16:creationId xmlns:a16="http://schemas.microsoft.com/office/drawing/2014/main" id="{01063B3F-20AE-41D2-ACEA-B90330738F04}"/>
              </a:ext>
            </a:extLst>
          </p:cNvPr>
          <p:cNvSpPr txBox="1">
            <a:spLocks/>
          </p:cNvSpPr>
          <p:nvPr/>
        </p:nvSpPr>
        <p:spPr>
          <a:xfrm>
            <a:off x="457200" y="274638"/>
            <a:ext cx="7315200" cy="868362"/>
          </a:xfrm>
          <a:prstGeom prst="rect">
            <a:avLst/>
          </a:prstGeom>
        </p:spPr>
        <p:txBody>
          <a:bodyPr vert="horz" lIns="91440" tIns="45720" rIns="91440" bIns="45720" rtlCol="0" anchor="b">
            <a:noAutofit/>
          </a:bodyPr>
          <a:lstStyle>
            <a:lvl1pPr algn="l" defTabSz="914400" rtl="0" eaLnBrk="1" latinLnBrk="0" hangingPunct="1">
              <a:spcBef>
                <a:spcPct val="0"/>
              </a:spcBef>
              <a:buNone/>
              <a:defRPr sz="6600" kern="1200" cap="none" spc="-100" baseline="0">
                <a:ln>
                  <a:noFill/>
                </a:ln>
                <a:solidFill>
                  <a:schemeClr val="tx2"/>
                </a:solidFill>
                <a:effectLst/>
                <a:latin typeface="+mj-lt"/>
                <a:ea typeface="+mj-ea"/>
                <a:cs typeface="+mj-cs"/>
              </a:defRPr>
            </a:lvl1pPr>
          </a:lstStyle>
          <a:p>
            <a:pPr marL="685800" indent="-685800">
              <a:buFont typeface="Wingdings" panose="05000000000000000000" pitchFamily="2" charset="2"/>
              <a:buChar char="Ø"/>
            </a:pPr>
            <a:r>
              <a:rPr lang="en-US" sz="4400" dirty="0">
                <a:solidFill>
                  <a:schemeClr val="tx1"/>
                </a:solidFill>
                <a:latin typeface="Aharoni" pitchFamily="2" charset="-79"/>
                <a:cs typeface="Aharoni" pitchFamily="2" charset="-79"/>
              </a:rPr>
              <a:t>Objectives of project </a:t>
            </a:r>
          </a:p>
        </p:txBody>
      </p:sp>
    </p:spTree>
    <p:extLst>
      <p:ext uri="{BB962C8B-B14F-4D97-AF65-F5344CB8AC3E}">
        <p14:creationId xmlns:p14="http://schemas.microsoft.com/office/powerpoint/2010/main" val="26257062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1752600" y="0"/>
            <a:ext cx="6826542" cy="6858000"/>
          </a:xfrm>
          <a:prstGeom prst="rect">
            <a:avLst/>
          </a:prstGeom>
        </p:spPr>
      </p:pic>
      <p:sp>
        <p:nvSpPr>
          <p:cNvPr id="2" name="Title 1"/>
          <p:cNvSpPr>
            <a:spLocks noGrp="1"/>
          </p:cNvSpPr>
          <p:nvPr>
            <p:ph type="title"/>
          </p:nvPr>
        </p:nvSpPr>
        <p:spPr/>
        <p:txBody>
          <a:bodyPr/>
          <a:lstStyle/>
          <a:p>
            <a:pPr marL="685800" indent="-685800">
              <a:buFont typeface="Wingdings" panose="05000000000000000000" pitchFamily="2" charset="2"/>
              <a:buChar char="Ø"/>
            </a:pPr>
            <a:r>
              <a:rPr lang="en-US" dirty="0" err="1">
                <a:solidFill>
                  <a:schemeClr val="tx1"/>
                </a:solidFill>
                <a:latin typeface="Aharoni" pitchFamily="2" charset="-79"/>
                <a:cs typeface="Aharoni" pitchFamily="2" charset="-79"/>
              </a:rPr>
              <a:t>Litretaure</a:t>
            </a:r>
            <a:r>
              <a:rPr lang="en-US" dirty="0">
                <a:solidFill>
                  <a:schemeClr val="tx1"/>
                </a:solidFill>
                <a:latin typeface="Aharoni" pitchFamily="2" charset="-79"/>
                <a:cs typeface="Aharoni" pitchFamily="2" charset="-79"/>
              </a:rPr>
              <a:t> survey</a:t>
            </a:r>
          </a:p>
        </p:txBody>
      </p:sp>
      <p:sp>
        <p:nvSpPr>
          <p:cNvPr id="3" name="Content Placeholder 2"/>
          <p:cNvSpPr>
            <a:spLocks noGrp="1"/>
          </p:cNvSpPr>
          <p:nvPr>
            <p:ph idx="1"/>
          </p:nvPr>
        </p:nvSpPr>
        <p:spPr/>
        <p:txBody>
          <a:bodyPr>
            <a:normAutofit/>
          </a:bodyPr>
          <a:lstStyle/>
          <a:p>
            <a:r>
              <a:rPr lang="en-US" sz="1800" dirty="0"/>
              <a:t>It is a method of representing and storing data in a visual for </a:t>
            </a:r>
            <a:r>
              <a:rPr lang="en-US" sz="1800" dirty="0" err="1"/>
              <a:t>eg</a:t>
            </a:r>
            <a:r>
              <a:rPr lang="en-US" sz="1800" dirty="0"/>
              <a:t>- small images of lines that are machine readable form.</a:t>
            </a:r>
          </a:p>
          <a:p>
            <a:r>
              <a:rPr lang="en-US" sz="1800" dirty="0"/>
              <a:t>Barcode is a code consisting of group of </a:t>
            </a:r>
            <a:r>
              <a:rPr lang="en-US" sz="1800" dirty="0" err="1"/>
              <a:t>primted</a:t>
            </a:r>
            <a:r>
              <a:rPr lang="en-US" sz="1800" dirty="0"/>
              <a:t> and variously patterned bars and spaces and sometimes numerals that is designed to be the scanned and read into computer </a:t>
            </a:r>
            <a:r>
              <a:rPr lang="en-US" sz="1800" dirty="0" err="1"/>
              <a:t>memery</a:t>
            </a:r>
            <a:r>
              <a:rPr lang="en-US" sz="1800" dirty="0"/>
              <a:t> and that contains information as identification about the object it labels.</a:t>
            </a:r>
          </a:p>
          <a:p>
            <a:r>
              <a:rPr lang="en-US" sz="1800" dirty="0"/>
              <a:t>QR Code is a matrix barcode or two dimensional code readable by QR scanners, mobile phones with a camera, and smartphones etc.</a:t>
            </a:r>
          </a:p>
          <a:p>
            <a:r>
              <a:rPr lang="en-US" sz="1800" dirty="0"/>
              <a:t>Scanners is a device that interpret different imagery, in this case it is barcodes.</a:t>
            </a:r>
          </a:p>
          <a:p>
            <a:endParaRPr lang="en-US" sz="1800" dirty="0"/>
          </a:p>
        </p:txBody>
      </p:sp>
    </p:spTree>
    <p:extLst>
      <p:ext uri="{BB962C8B-B14F-4D97-AF65-F5344CB8AC3E}">
        <p14:creationId xmlns:p14="http://schemas.microsoft.com/office/powerpoint/2010/main" val="3315092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1752600" y="0"/>
            <a:ext cx="6826542" cy="6858000"/>
          </a:xfrm>
          <a:prstGeom prst="rect">
            <a:avLst/>
          </a:prstGeom>
        </p:spPr>
      </p:pic>
      <p:sp>
        <p:nvSpPr>
          <p:cNvPr id="2" name="Title 1"/>
          <p:cNvSpPr>
            <a:spLocks noGrp="1"/>
          </p:cNvSpPr>
          <p:nvPr>
            <p:ph type="title"/>
          </p:nvPr>
        </p:nvSpPr>
        <p:spPr/>
        <p:txBody>
          <a:bodyPr/>
          <a:lstStyle/>
          <a:p>
            <a:r>
              <a:rPr lang="en-US" dirty="0">
                <a:solidFill>
                  <a:schemeClr val="tx1"/>
                </a:solidFill>
                <a:latin typeface="Aharoni" pitchFamily="2" charset="-79"/>
                <a:cs typeface="Aharoni" pitchFamily="2" charset="-79"/>
              </a:rPr>
              <a:t>Different Codes</a:t>
            </a:r>
          </a:p>
        </p:txBody>
      </p:sp>
      <p:sp>
        <p:nvSpPr>
          <p:cNvPr id="4" name="Text Placeholder 3"/>
          <p:cNvSpPr>
            <a:spLocks noGrp="1"/>
          </p:cNvSpPr>
          <p:nvPr>
            <p:ph type="body" idx="1"/>
          </p:nvPr>
        </p:nvSpPr>
        <p:spPr/>
        <p:txBody>
          <a:bodyPr/>
          <a:lstStyle/>
          <a:p>
            <a:r>
              <a:rPr lang="en-US" dirty="0">
                <a:solidFill>
                  <a:schemeClr val="tx1"/>
                </a:solidFill>
                <a:latin typeface="Aharoni" pitchFamily="2" charset="-79"/>
                <a:cs typeface="Aharoni" pitchFamily="2" charset="-79"/>
              </a:rPr>
              <a:t>Code </a:t>
            </a:r>
            <a:r>
              <a:rPr lang="en-US" sz="2800" dirty="0">
                <a:solidFill>
                  <a:schemeClr val="tx1"/>
                </a:solidFill>
                <a:latin typeface="Aharoni" pitchFamily="2" charset="-79"/>
                <a:cs typeface="Aharoni" pitchFamily="2" charset="-79"/>
              </a:rPr>
              <a:t>39</a:t>
            </a:r>
            <a:endParaRPr lang="en-US" dirty="0">
              <a:solidFill>
                <a:schemeClr val="tx1"/>
              </a:solidFill>
              <a:latin typeface="Aharoni" pitchFamily="2" charset="-79"/>
              <a:cs typeface="Aharoni" pitchFamily="2" charset="-79"/>
            </a:endParaRPr>
          </a:p>
        </p:txBody>
      </p:sp>
      <p:sp>
        <p:nvSpPr>
          <p:cNvPr id="5" name="Content Placeholder 4"/>
          <p:cNvSpPr>
            <a:spLocks noGrp="1"/>
          </p:cNvSpPr>
          <p:nvPr>
            <p:ph sz="half" idx="2"/>
          </p:nvPr>
        </p:nvSpPr>
        <p:spPr>
          <a:xfrm>
            <a:off x="304800" y="2174875"/>
            <a:ext cx="5105400" cy="3951288"/>
          </a:xfrm>
        </p:spPr>
        <p:txBody>
          <a:bodyPr/>
          <a:lstStyle/>
          <a:p>
            <a:r>
              <a:rPr lang="en-US" dirty="0"/>
              <a:t>Defines 43 Characters.</a:t>
            </a:r>
          </a:p>
          <a:p>
            <a:r>
              <a:rPr lang="en-US" dirty="0"/>
              <a:t>Typically used in non-retail areas.</a:t>
            </a:r>
          </a:p>
          <a:p>
            <a:r>
              <a:rPr lang="en-US" dirty="0"/>
              <a:t>Arguably the simplest barcode.</a:t>
            </a:r>
          </a:p>
          <a:p>
            <a:endParaRPr lang="en-US" sz="2000" dirty="0"/>
          </a:p>
          <a:p>
            <a:endParaRPr lang="en-US" dirty="0"/>
          </a:p>
        </p:txBody>
      </p:sp>
      <p:pic>
        <p:nvPicPr>
          <p:cNvPr id="10" name="Content Placeholder 9"/>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990600" y="4191000"/>
            <a:ext cx="3657600" cy="1719384"/>
          </a:xfrm>
        </p:spPr>
      </p:pic>
      <p:pic>
        <p:nvPicPr>
          <p:cNvPr id="12" name="Picture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10200" y="159210"/>
            <a:ext cx="2819400" cy="6432089"/>
          </a:xfrm>
          <a:prstGeom prst="rect">
            <a:avLst/>
          </a:prstGeom>
        </p:spPr>
      </p:pic>
    </p:spTree>
    <p:extLst>
      <p:ext uri="{BB962C8B-B14F-4D97-AF65-F5344CB8AC3E}">
        <p14:creationId xmlns:p14="http://schemas.microsoft.com/office/powerpoint/2010/main" val="6464512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1752600" y="0"/>
            <a:ext cx="6826542" cy="6858000"/>
          </a:xfrm>
          <a:prstGeom prst="rect">
            <a:avLst/>
          </a:prstGeom>
        </p:spPr>
      </p:pic>
      <p:sp>
        <p:nvSpPr>
          <p:cNvPr id="13" name="Title 12"/>
          <p:cNvSpPr>
            <a:spLocks noGrp="1"/>
          </p:cNvSpPr>
          <p:nvPr>
            <p:ph type="title"/>
          </p:nvPr>
        </p:nvSpPr>
        <p:spPr/>
        <p:txBody>
          <a:bodyPr/>
          <a:lstStyle/>
          <a:p>
            <a:r>
              <a:rPr lang="en-US" dirty="0">
                <a:solidFill>
                  <a:schemeClr val="tx1"/>
                </a:solidFill>
                <a:latin typeface="Aharoni" pitchFamily="2" charset="-79"/>
                <a:cs typeface="Aharoni" pitchFamily="2" charset="-79"/>
              </a:rPr>
              <a:t>Different Codes</a:t>
            </a:r>
            <a:endParaRPr lang="en-US" dirty="0"/>
          </a:p>
        </p:txBody>
      </p:sp>
      <p:sp>
        <p:nvSpPr>
          <p:cNvPr id="14" name="Text Placeholder 13"/>
          <p:cNvSpPr>
            <a:spLocks noGrp="1"/>
          </p:cNvSpPr>
          <p:nvPr>
            <p:ph type="body" idx="1"/>
          </p:nvPr>
        </p:nvSpPr>
        <p:spPr>
          <a:xfrm>
            <a:off x="381000" y="1156494"/>
            <a:ext cx="3657600" cy="639762"/>
          </a:xfrm>
        </p:spPr>
        <p:txBody>
          <a:bodyPr/>
          <a:lstStyle/>
          <a:p>
            <a:pPr marL="342900" indent="-342900">
              <a:buFont typeface="Wingdings" panose="05000000000000000000" pitchFamily="2" charset="2"/>
              <a:buChar char="Ø"/>
            </a:pPr>
            <a:r>
              <a:rPr lang="en-US" sz="2200" dirty="0">
                <a:solidFill>
                  <a:schemeClr val="tx1"/>
                </a:solidFill>
                <a:latin typeface="Aharoni" pitchFamily="2" charset="-79"/>
                <a:cs typeface="Aharoni" pitchFamily="2" charset="-79"/>
              </a:rPr>
              <a:t>Code 128</a:t>
            </a:r>
          </a:p>
        </p:txBody>
      </p:sp>
      <p:sp>
        <p:nvSpPr>
          <p:cNvPr id="15" name="Content Placeholder 14"/>
          <p:cNvSpPr>
            <a:spLocks noGrp="1"/>
          </p:cNvSpPr>
          <p:nvPr>
            <p:ph sz="half" idx="2"/>
          </p:nvPr>
        </p:nvSpPr>
        <p:spPr>
          <a:xfrm>
            <a:off x="410852" y="1692276"/>
            <a:ext cx="3733800" cy="4683125"/>
          </a:xfrm>
        </p:spPr>
        <p:txBody>
          <a:bodyPr/>
          <a:lstStyle/>
          <a:p>
            <a:r>
              <a:rPr lang="en-US" dirty="0"/>
              <a:t>Defines the entire 128 ASCII character set.</a:t>
            </a:r>
          </a:p>
          <a:p>
            <a:r>
              <a:rPr lang="en-US" dirty="0"/>
              <a:t>Typically used in shipping/retail.</a:t>
            </a:r>
          </a:p>
          <a:p>
            <a:pPr marL="114300" indent="0">
              <a:buNone/>
            </a:pPr>
            <a:endParaRPr lang="en-US" dirty="0"/>
          </a:p>
        </p:txBody>
      </p:sp>
      <p:pic>
        <p:nvPicPr>
          <p:cNvPr id="18" name="Content Placeholder 17"/>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4284683" y="1798613"/>
            <a:ext cx="3994958" cy="1504950"/>
          </a:xfrm>
        </p:spPr>
      </p:pic>
      <p:sp>
        <p:nvSpPr>
          <p:cNvPr id="7" name="Text Placeholder 13">
            <a:extLst>
              <a:ext uri="{FF2B5EF4-FFF2-40B4-BE49-F238E27FC236}">
                <a16:creationId xmlns:a16="http://schemas.microsoft.com/office/drawing/2014/main" id="{BE941189-6BFE-445D-B228-B1A1306EADF4}"/>
              </a:ext>
            </a:extLst>
          </p:cNvPr>
          <p:cNvSpPr txBox="1">
            <a:spLocks/>
          </p:cNvSpPr>
          <p:nvPr/>
        </p:nvSpPr>
        <p:spPr>
          <a:xfrm>
            <a:off x="252753" y="3067448"/>
            <a:ext cx="3657600" cy="639762"/>
          </a:xfrm>
          <a:prstGeom prst="rect">
            <a:avLst/>
          </a:prstGeom>
        </p:spPr>
        <p:txBody>
          <a:bodyPr vert="horz" lIns="91440" tIns="45720" rIns="91440" bIns="45720" rtlCol="0" anchor="b">
            <a:noAutofit/>
          </a:bodyPr>
          <a:lstStyle>
            <a:lvl1pPr marL="0" indent="0" algn="ctr" defTabSz="914400" rtl="0" eaLnBrk="1" latinLnBrk="0" hangingPunct="1">
              <a:spcBef>
                <a:spcPct val="20000"/>
              </a:spcBef>
              <a:buClr>
                <a:schemeClr val="accent1"/>
              </a:buClr>
              <a:buFont typeface="Arial" pitchFamily="34" charset="0"/>
              <a:buNone/>
              <a:defRPr sz="2000" b="1" kern="1200">
                <a:solidFill>
                  <a:schemeClr val="tx2"/>
                </a:solidFill>
                <a:latin typeface="+mn-lt"/>
                <a:ea typeface="+mn-ea"/>
                <a:cs typeface="+mn-cs"/>
              </a:defRPr>
            </a:lvl1pPr>
            <a:lvl2pPr marL="457200" indent="0" algn="l" defTabSz="914400" rtl="0" eaLnBrk="1" latinLnBrk="0" hangingPunct="1">
              <a:spcBef>
                <a:spcPct val="20000"/>
              </a:spcBef>
              <a:buClr>
                <a:schemeClr val="accent2"/>
              </a:buClr>
              <a:buFont typeface="Arial" pitchFamily="34" charset="0"/>
              <a:buNone/>
              <a:defRPr sz="2000" b="1" kern="1200">
                <a:solidFill>
                  <a:schemeClr val="tx1"/>
                </a:solidFill>
                <a:latin typeface="+mn-lt"/>
                <a:ea typeface="+mn-ea"/>
                <a:cs typeface="+mn-cs"/>
              </a:defRPr>
            </a:lvl2pPr>
            <a:lvl3pPr marL="914400" indent="0" algn="l" defTabSz="914400" rtl="0" eaLnBrk="1" latinLnBrk="0" hangingPunct="1">
              <a:spcBef>
                <a:spcPct val="20000"/>
              </a:spcBef>
              <a:buClr>
                <a:schemeClr val="accent3"/>
              </a:buClr>
              <a:buFont typeface="Arial" pitchFamily="34" charset="0"/>
              <a:buNone/>
              <a:defRPr sz="1800" b="1" kern="1200">
                <a:solidFill>
                  <a:schemeClr val="tx1"/>
                </a:solidFill>
                <a:latin typeface="+mn-lt"/>
                <a:ea typeface="+mn-ea"/>
                <a:cs typeface="+mn-cs"/>
              </a:defRPr>
            </a:lvl3pPr>
            <a:lvl4pPr marL="1371600" indent="0" algn="l" defTabSz="914400" rtl="0" eaLnBrk="1" latinLnBrk="0" hangingPunct="1">
              <a:spcBef>
                <a:spcPct val="20000"/>
              </a:spcBef>
              <a:buClr>
                <a:schemeClr val="accent4"/>
              </a:buClr>
              <a:buFont typeface="Arial" pitchFamily="34" charset="0"/>
              <a:buNone/>
              <a:defRPr sz="1600" b="1" kern="1200">
                <a:solidFill>
                  <a:schemeClr val="tx1"/>
                </a:solidFill>
                <a:latin typeface="+mn-lt"/>
                <a:ea typeface="+mn-ea"/>
                <a:cs typeface="+mn-cs"/>
              </a:defRPr>
            </a:lvl4pPr>
            <a:lvl5pPr marL="1828800" indent="0" algn="l" defTabSz="914400" rtl="0" eaLnBrk="1" latinLnBrk="0" hangingPunct="1">
              <a:spcBef>
                <a:spcPct val="20000"/>
              </a:spcBef>
              <a:buClr>
                <a:schemeClr val="accent5"/>
              </a:buClr>
              <a:buFont typeface="Arial" pitchFamily="34" charset="0"/>
              <a:buNone/>
              <a:defRPr sz="1600" b="1" kern="1200" baseline="0">
                <a:solidFill>
                  <a:schemeClr val="tx1"/>
                </a:solidFill>
                <a:latin typeface="+mn-lt"/>
                <a:ea typeface="+mn-ea"/>
                <a:cs typeface="+mn-cs"/>
              </a:defRPr>
            </a:lvl5pPr>
            <a:lvl6pPr marL="2286000" indent="0" algn="l" defTabSz="914400" rtl="0" eaLnBrk="1" latinLnBrk="0" hangingPunct="1">
              <a:spcBef>
                <a:spcPct val="20000"/>
              </a:spcBef>
              <a:buClr>
                <a:schemeClr val="accent1"/>
              </a:buClr>
              <a:buFont typeface="Arial" pitchFamily="34" charset="0"/>
              <a:buNone/>
              <a:defRPr sz="1600" b="1" kern="1200" baseline="0">
                <a:solidFill>
                  <a:schemeClr val="tx1"/>
                </a:solidFill>
                <a:latin typeface="+mn-lt"/>
                <a:ea typeface="+mn-ea"/>
                <a:cs typeface="+mn-cs"/>
              </a:defRPr>
            </a:lvl6pPr>
            <a:lvl7pPr marL="2743200" indent="0" algn="l" defTabSz="914400" rtl="0" eaLnBrk="1" latinLnBrk="0" hangingPunct="1">
              <a:spcBef>
                <a:spcPct val="20000"/>
              </a:spcBef>
              <a:buClr>
                <a:schemeClr val="accent2"/>
              </a:buClr>
              <a:buFont typeface="Arial" pitchFamily="34" charset="0"/>
              <a:buNone/>
              <a:defRPr sz="1600" b="1" kern="1200">
                <a:solidFill>
                  <a:schemeClr val="tx1"/>
                </a:solidFill>
                <a:latin typeface="+mn-lt"/>
                <a:ea typeface="+mn-ea"/>
                <a:cs typeface="+mn-cs"/>
              </a:defRPr>
            </a:lvl7pPr>
            <a:lvl8pPr marL="3200400" indent="0" algn="l" defTabSz="914400" rtl="0" eaLnBrk="1" latinLnBrk="0" hangingPunct="1">
              <a:spcBef>
                <a:spcPct val="20000"/>
              </a:spcBef>
              <a:buClr>
                <a:schemeClr val="accent3"/>
              </a:buClr>
              <a:buFont typeface="Arial" pitchFamily="34" charset="0"/>
              <a:buNone/>
              <a:defRPr sz="1600" b="1" kern="1200">
                <a:solidFill>
                  <a:schemeClr val="tx1"/>
                </a:solidFill>
                <a:latin typeface="+mn-lt"/>
                <a:ea typeface="+mn-ea"/>
                <a:cs typeface="+mn-cs"/>
              </a:defRPr>
            </a:lvl8pPr>
            <a:lvl9pPr marL="3657600" indent="0" algn="l" defTabSz="914400" rtl="0" eaLnBrk="1" latinLnBrk="0" hangingPunct="1">
              <a:spcBef>
                <a:spcPct val="20000"/>
              </a:spcBef>
              <a:buClr>
                <a:schemeClr val="accent4"/>
              </a:buClr>
              <a:buFont typeface="Arial" pitchFamily="34" charset="0"/>
              <a:buNone/>
              <a:defRPr sz="1600" b="1" kern="1200">
                <a:solidFill>
                  <a:schemeClr val="tx1"/>
                </a:solidFill>
                <a:latin typeface="+mn-lt"/>
                <a:ea typeface="+mn-ea"/>
                <a:cs typeface="+mn-cs"/>
              </a:defRPr>
            </a:lvl9pPr>
          </a:lstStyle>
          <a:p>
            <a:pPr marL="342900" indent="-342900">
              <a:buFont typeface="Wingdings" panose="05000000000000000000" pitchFamily="2" charset="2"/>
              <a:buChar char="Ø"/>
            </a:pPr>
            <a:r>
              <a:rPr lang="en-US" dirty="0">
                <a:solidFill>
                  <a:schemeClr val="tx1"/>
                </a:solidFill>
                <a:latin typeface="Aharoni" pitchFamily="2" charset="-79"/>
                <a:cs typeface="Aharoni" pitchFamily="2" charset="-79"/>
              </a:rPr>
              <a:t>   QR Code</a:t>
            </a:r>
          </a:p>
        </p:txBody>
      </p:sp>
      <p:sp>
        <p:nvSpPr>
          <p:cNvPr id="8" name="Content Placeholder 14">
            <a:extLst>
              <a:ext uri="{FF2B5EF4-FFF2-40B4-BE49-F238E27FC236}">
                <a16:creationId xmlns:a16="http://schemas.microsoft.com/office/drawing/2014/main" id="{3B441995-39EB-44AE-A8B3-C69C1B57A358}"/>
              </a:ext>
            </a:extLst>
          </p:cNvPr>
          <p:cNvSpPr txBox="1">
            <a:spLocks/>
          </p:cNvSpPr>
          <p:nvPr/>
        </p:nvSpPr>
        <p:spPr>
          <a:xfrm>
            <a:off x="410852" y="3542308"/>
            <a:ext cx="3657600" cy="3951288"/>
          </a:xfrm>
          <a:prstGeom prst="rect">
            <a:avLst/>
          </a:prstGeom>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4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6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6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6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6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9pPr>
          </a:lstStyle>
          <a:p>
            <a:r>
              <a:rPr lang="en-US" dirty="0"/>
              <a:t>Most commonly used barcode as of recent especially with mobile phones.</a:t>
            </a:r>
          </a:p>
          <a:p>
            <a:r>
              <a:rPr lang="en-US" dirty="0"/>
              <a:t>Has various numbers of functions: linking to websites, send SMS functions, etc.</a:t>
            </a:r>
          </a:p>
        </p:txBody>
      </p:sp>
      <p:pic>
        <p:nvPicPr>
          <p:cNvPr id="10" name="Content Placeholder 2">
            <a:extLst>
              <a:ext uri="{FF2B5EF4-FFF2-40B4-BE49-F238E27FC236}">
                <a16:creationId xmlns:a16="http://schemas.microsoft.com/office/drawing/2014/main" id="{4BE7429D-FE98-46CA-A9A3-23B16693057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75550" y="3684538"/>
            <a:ext cx="2819400" cy="2819400"/>
          </a:xfrm>
          <a:prstGeom prst="rect">
            <a:avLst/>
          </a:prstGeom>
        </p:spPr>
      </p:pic>
    </p:spTree>
    <p:extLst>
      <p:ext uri="{BB962C8B-B14F-4D97-AF65-F5344CB8AC3E}">
        <p14:creationId xmlns:p14="http://schemas.microsoft.com/office/powerpoint/2010/main" val="9705870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1752600" y="0"/>
            <a:ext cx="6826542" cy="6858000"/>
          </a:xfrm>
          <a:prstGeom prst="rect">
            <a:avLst/>
          </a:prstGeom>
        </p:spPr>
      </p:pic>
      <p:sp>
        <p:nvSpPr>
          <p:cNvPr id="2" name="Title 1"/>
          <p:cNvSpPr>
            <a:spLocks noGrp="1"/>
          </p:cNvSpPr>
          <p:nvPr>
            <p:ph type="title"/>
          </p:nvPr>
        </p:nvSpPr>
        <p:spPr>
          <a:xfrm>
            <a:off x="907616" y="458788"/>
            <a:ext cx="4495800" cy="868362"/>
          </a:xfrm>
        </p:spPr>
        <p:txBody>
          <a:bodyPr/>
          <a:lstStyle/>
          <a:p>
            <a:r>
              <a:rPr lang="en-US" u="sng" dirty="0">
                <a:solidFill>
                  <a:schemeClr val="tx1"/>
                </a:solidFill>
                <a:latin typeface="Aharoni" pitchFamily="2" charset="-79"/>
                <a:cs typeface="Aharoni" pitchFamily="2" charset="-79"/>
              </a:rPr>
              <a:t>Working of        </a:t>
            </a:r>
            <a:br>
              <a:rPr lang="en-US" dirty="0">
                <a:solidFill>
                  <a:schemeClr val="tx1"/>
                </a:solidFill>
                <a:latin typeface="Aharoni" pitchFamily="2" charset="-79"/>
                <a:cs typeface="Aharoni" pitchFamily="2" charset="-79"/>
              </a:rPr>
            </a:br>
            <a:r>
              <a:rPr lang="en-US" dirty="0">
                <a:solidFill>
                  <a:schemeClr val="tx1"/>
                </a:solidFill>
                <a:latin typeface="Aharoni" pitchFamily="2" charset="-79"/>
                <a:cs typeface="Aharoni" pitchFamily="2" charset="-79"/>
              </a:rPr>
              <a:t>   </a:t>
            </a:r>
            <a:r>
              <a:rPr lang="en-US" u="sng" dirty="0">
                <a:solidFill>
                  <a:schemeClr val="tx1"/>
                </a:solidFill>
                <a:latin typeface="Aharoni" pitchFamily="2" charset="-79"/>
                <a:cs typeface="Aharoni" pitchFamily="2" charset="-79"/>
              </a:rPr>
              <a:t>scanner</a:t>
            </a:r>
          </a:p>
        </p:txBody>
      </p:sp>
      <p:sp>
        <p:nvSpPr>
          <p:cNvPr id="3" name="Content Placeholder 2"/>
          <p:cNvSpPr>
            <a:spLocks noGrp="1"/>
          </p:cNvSpPr>
          <p:nvPr>
            <p:ph idx="1"/>
          </p:nvPr>
        </p:nvSpPr>
        <p:spPr>
          <a:xfrm>
            <a:off x="457200" y="1600200"/>
            <a:ext cx="4419600" cy="4800600"/>
          </a:xfrm>
        </p:spPr>
        <p:txBody>
          <a:bodyPr>
            <a:normAutofit lnSpcReduction="10000"/>
          </a:bodyPr>
          <a:lstStyle/>
          <a:p>
            <a:pPr>
              <a:buFont typeface="Wingdings" panose="05000000000000000000" pitchFamily="2" charset="2"/>
              <a:buChar char="Ø"/>
            </a:pPr>
            <a:r>
              <a:rPr lang="en-US" dirty="0"/>
              <a:t>Barcode scanners are made of 3 different parts: an illuminator,  a convertor, and a decoder.</a:t>
            </a:r>
          </a:p>
          <a:p>
            <a:pPr>
              <a:buFont typeface="Wingdings" panose="05000000000000000000" pitchFamily="2" charset="2"/>
              <a:buChar char="Ø"/>
            </a:pPr>
            <a:r>
              <a:rPr lang="en-US" dirty="0"/>
              <a:t>The illuminator shoots out a line of light (typically red) at the barcode.</a:t>
            </a:r>
          </a:p>
          <a:p>
            <a:pPr>
              <a:buFont typeface="Wingdings" panose="05000000000000000000" pitchFamily="2" charset="2"/>
              <a:buChar char="Ø"/>
            </a:pPr>
            <a:r>
              <a:rPr lang="en-US" dirty="0"/>
              <a:t>Light will reflect from the barcode (from anywhere that is not black) in the form of a wave.</a:t>
            </a:r>
          </a:p>
          <a:p>
            <a:pPr>
              <a:buFont typeface="Wingdings" panose="05000000000000000000" pitchFamily="2" charset="2"/>
              <a:buChar char="Ø"/>
            </a:pPr>
            <a:r>
              <a:rPr lang="en-US" dirty="0"/>
              <a:t>The convertor converts the wave into a readable form for the device.</a:t>
            </a:r>
          </a:p>
          <a:p>
            <a:pPr>
              <a:buFont typeface="Wingdings" panose="05000000000000000000" pitchFamily="2" charset="2"/>
              <a:buChar char="Ø"/>
            </a:pPr>
            <a:r>
              <a:rPr lang="en-US" dirty="0"/>
              <a:t>Decoder reads the converted information.</a:t>
            </a:r>
          </a:p>
        </p:txBody>
      </p:sp>
      <p:pic>
        <p:nvPicPr>
          <p:cNvPr id="5" name="Picture 4"/>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4372342" y="-228600"/>
            <a:ext cx="4302074" cy="3111500"/>
          </a:xfrm>
          <a:prstGeom prst="rect">
            <a:avLst/>
          </a:prstGeom>
        </p:spPr>
      </p:pic>
      <p:sp>
        <p:nvSpPr>
          <p:cNvPr id="6" name="TextBox 5"/>
          <p:cNvSpPr txBox="1"/>
          <p:nvPr/>
        </p:nvSpPr>
        <p:spPr>
          <a:xfrm>
            <a:off x="5257800" y="381000"/>
            <a:ext cx="1951432" cy="369332"/>
          </a:xfrm>
          <a:prstGeom prst="rect">
            <a:avLst/>
          </a:prstGeom>
          <a:noFill/>
        </p:spPr>
        <p:txBody>
          <a:bodyPr wrap="none" rtlCol="0">
            <a:spAutoFit/>
          </a:bodyPr>
          <a:lstStyle/>
          <a:p>
            <a:r>
              <a:rPr lang="en-US" dirty="0">
                <a:solidFill>
                  <a:srgbClr val="FF0000"/>
                </a:solidFill>
                <a:effectLst>
                  <a:outerShdw blurRad="38100" dist="38100" dir="2700000" algn="tl">
                    <a:srgbClr val="000000">
                      <a:alpha val="43137"/>
                    </a:srgbClr>
                  </a:outerShdw>
                </a:effectLst>
              </a:rPr>
              <a:t>Light from Scanner</a:t>
            </a:r>
          </a:p>
        </p:txBody>
      </p:sp>
      <p:sp>
        <p:nvSpPr>
          <p:cNvPr id="7" name="TextBox 6"/>
          <p:cNvSpPr txBox="1"/>
          <p:nvPr/>
        </p:nvSpPr>
        <p:spPr>
          <a:xfrm>
            <a:off x="7116528" y="2286000"/>
            <a:ext cx="951992" cy="369332"/>
          </a:xfrm>
          <a:prstGeom prst="rect">
            <a:avLst/>
          </a:prstGeom>
          <a:noFill/>
        </p:spPr>
        <p:txBody>
          <a:bodyPr wrap="none" rtlCol="0">
            <a:spAutoFit/>
          </a:bodyPr>
          <a:lstStyle/>
          <a:p>
            <a:r>
              <a:rPr lang="en-US" dirty="0">
                <a:effectLst>
                  <a:outerShdw blurRad="38100" dist="38100" dir="2700000" algn="tl">
                    <a:srgbClr val="000000">
                      <a:alpha val="43137"/>
                    </a:srgbClr>
                  </a:outerShdw>
                </a:effectLst>
              </a:rPr>
              <a:t>Barcode</a:t>
            </a:r>
          </a:p>
        </p:txBody>
      </p:sp>
      <p:sp>
        <p:nvSpPr>
          <p:cNvPr id="8" name="TextBox 7"/>
          <p:cNvSpPr txBox="1"/>
          <p:nvPr/>
        </p:nvSpPr>
        <p:spPr>
          <a:xfrm>
            <a:off x="6773326" y="957818"/>
            <a:ext cx="1638397" cy="369332"/>
          </a:xfrm>
          <a:prstGeom prst="rect">
            <a:avLst/>
          </a:prstGeom>
          <a:noFill/>
        </p:spPr>
        <p:txBody>
          <a:bodyPr wrap="none" rtlCol="0">
            <a:spAutoFit/>
          </a:bodyPr>
          <a:lstStyle/>
          <a:p>
            <a:r>
              <a:rPr lang="en-US" dirty="0">
                <a:solidFill>
                  <a:srgbClr val="FFC000"/>
                </a:solidFill>
                <a:effectLst>
                  <a:outerShdw blurRad="38100" dist="38100" dir="2700000" algn="tl">
                    <a:srgbClr val="000000">
                      <a:alpha val="43137"/>
                    </a:srgbClr>
                  </a:outerShdw>
                </a:effectLst>
              </a:rPr>
              <a:t>Light Reflection</a:t>
            </a:r>
          </a:p>
        </p:txBody>
      </p:sp>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71526" y="3644900"/>
            <a:ext cx="3403600" cy="762000"/>
          </a:xfrm>
          <a:prstGeom prst="rect">
            <a:avLst/>
          </a:prstGeom>
        </p:spPr>
      </p:pic>
      <p:pic>
        <p:nvPicPr>
          <p:cNvPr id="10" name="Picture 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181600" y="5486400"/>
            <a:ext cx="3111500" cy="711200"/>
          </a:xfrm>
          <a:prstGeom prst="rect">
            <a:avLst/>
          </a:prstGeom>
        </p:spPr>
      </p:pic>
      <p:sp>
        <p:nvSpPr>
          <p:cNvPr id="11" name="Down Arrow 10"/>
          <p:cNvSpPr/>
          <p:nvPr/>
        </p:nvSpPr>
        <p:spPr>
          <a:xfrm>
            <a:off x="6400800" y="2882900"/>
            <a:ext cx="808432" cy="622300"/>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2" name="Down Arrow 11"/>
          <p:cNvSpPr/>
          <p:nvPr/>
        </p:nvSpPr>
        <p:spPr>
          <a:xfrm>
            <a:off x="6400800" y="4648200"/>
            <a:ext cx="808432" cy="622300"/>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26391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1600200" y="0"/>
            <a:ext cx="6826542" cy="6858000"/>
          </a:xfrm>
          <a:prstGeom prst="rect">
            <a:avLst/>
          </a:prstGeom>
        </p:spPr>
      </p:pic>
      <p:sp>
        <p:nvSpPr>
          <p:cNvPr id="10" name="Content Placeholder 2"/>
          <p:cNvSpPr txBox="1">
            <a:spLocks/>
          </p:cNvSpPr>
          <p:nvPr/>
        </p:nvSpPr>
        <p:spPr>
          <a:xfrm>
            <a:off x="457200" y="1600200"/>
            <a:ext cx="4419600" cy="4800600"/>
          </a:xfrm>
          <a:prstGeom prst="rect">
            <a:avLst/>
          </a:prstGeom>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endParaRPr lang="en-US" dirty="0"/>
          </a:p>
        </p:txBody>
      </p:sp>
      <p:pic>
        <p:nvPicPr>
          <p:cNvPr id="3" name="Picture 2">
            <a:extLst>
              <a:ext uri="{FF2B5EF4-FFF2-40B4-BE49-F238E27FC236}">
                <a16:creationId xmlns:a16="http://schemas.microsoft.com/office/drawing/2014/main" id="{B3BF8A26-7765-436E-BBE7-591C216D28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 y="1171575"/>
            <a:ext cx="8305801" cy="4478897"/>
          </a:xfrm>
          <a:prstGeom prst="rect">
            <a:avLst/>
          </a:prstGeom>
        </p:spPr>
      </p:pic>
    </p:spTree>
    <p:extLst>
      <p:ext uri="{BB962C8B-B14F-4D97-AF65-F5344CB8AC3E}">
        <p14:creationId xmlns:p14="http://schemas.microsoft.com/office/powerpoint/2010/main" val="36585769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C1FCDA-2E7B-400E-86E1-A270C00A78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 y="228600"/>
            <a:ext cx="6477000" cy="4114800"/>
          </a:xfrm>
          <a:prstGeom prst="rect">
            <a:avLst/>
          </a:prstGeom>
        </p:spPr>
      </p:pic>
      <p:pic>
        <p:nvPicPr>
          <p:cNvPr id="6" name="Picture 5">
            <a:extLst>
              <a:ext uri="{FF2B5EF4-FFF2-40B4-BE49-F238E27FC236}">
                <a16:creationId xmlns:a16="http://schemas.microsoft.com/office/drawing/2014/main" id="{87CAE6DA-0A88-43DC-B202-629539B6D1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0" y="4434775"/>
            <a:ext cx="3886200" cy="2347025"/>
          </a:xfrm>
          <a:prstGeom prst="rect">
            <a:avLst/>
          </a:prstGeom>
        </p:spPr>
      </p:pic>
    </p:spTree>
    <p:extLst>
      <p:ext uri="{BB962C8B-B14F-4D97-AF65-F5344CB8AC3E}">
        <p14:creationId xmlns:p14="http://schemas.microsoft.com/office/powerpoint/2010/main" val="42588908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45292E9-771C-440F-8501-F6A736476111}"/>
              </a:ext>
            </a:extLst>
          </p:cNvPr>
          <p:cNvPicPr>
            <a:picLocks noChangeAspect="1"/>
          </p:cNvPicPr>
          <p:nvPr/>
        </p:nvPicPr>
        <p:blipFill>
          <a:blip r:embed="rId2">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1752600" y="0"/>
            <a:ext cx="6826542" cy="6858000"/>
          </a:xfrm>
          <a:prstGeom prst="rect">
            <a:avLst/>
          </a:prstGeom>
        </p:spPr>
      </p:pic>
      <p:sp>
        <p:nvSpPr>
          <p:cNvPr id="5" name="Title 1">
            <a:extLst>
              <a:ext uri="{FF2B5EF4-FFF2-40B4-BE49-F238E27FC236}">
                <a16:creationId xmlns:a16="http://schemas.microsoft.com/office/drawing/2014/main" id="{3150D493-2962-4B41-A50F-59F9183F5D28}"/>
              </a:ext>
            </a:extLst>
          </p:cNvPr>
          <p:cNvSpPr>
            <a:spLocks noGrp="1"/>
          </p:cNvSpPr>
          <p:nvPr>
            <p:ph type="ctrTitle"/>
          </p:nvPr>
        </p:nvSpPr>
        <p:spPr>
          <a:xfrm>
            <a:off x="-228600" y="-685799"/>
            <a:ext cx="8807742" cy="1600200"/>
          </a:xfrm>
        </p:spPr>
        <p:txBody>
          <a:bodyPr/>
          <a:lstStyle/>
          <a:p>
            <a:pPr marL="571500" indent="-571500">
              <a:buFont typeface="Wingdings" panose="05000000000000000000" pitchFamily="2" charset="2"/>
              <a:buChar char="Ø"/>
            </a:pPr>
            <a:r>
              <a:rPr lang="en-US" sz="3900" b="1" dirty="0">
                <a:solidFill>
                  <a:schemeClr val="tx1"/>
                </a:solidFill>
              </a:rPr>
              <a:t>DISSADVANTAGE OF BAR/QR  CODES</a:t>
            </a:r>
          </a:p>
        </p:txBody>
      </p:sp>
      <p:sp>
        <p:nvSpPr>
          <p:cNvPr id="6" name="TextBox 5">
            <a:extLst>
              <a:ext uri="{FF2B5EF4-FFF2-40B4-BE49-F238E27FC236}">
                <a16:creationId xmlns:a16="http://schemas.microsoft.com/office/drawing/2014/main" id="{EAEF5829-8F1D-43B0-AF21-2AACDE4350B7}"/>
              </a:ext>
            </a:extLst>
          </p:cNvPr>
          <p:cNvSpPr txBox="1"/>
          <p:nvPr/>
        </p:nvSpPr>
        <p:spPr>
          <a:xfrm>
            <a:off x="457200" y="1524000"/>
            <a:ext cx="7239000" cy="2246769"/>
          </a:xfrm>
          <a:prstGeom prst="rect">
            <a:avLst/>
          </a:prstGeom>
          <a:noFill/>
        </p:spPr>
        <p:txBody>
          <a:bodyPr wrap="square" rtlCol="0">
            <a:spAutoFit/>
          </a:bodyPr>
          <a:lstStyle/>
          <a:p>
            <a:pPr marL="285750" indent="-285750">
              <a:buFont typeface="Arial" panose="020B0604020202020204" pitchFamily="34" charset="0"/>
              <a:buChar char="•"/>
            </a:pPr>
            <a:r>
              <a:rPr lang="en-US" sz="2000" i="1" dirty="0"/>
              <a:t>Linear bar codes can store only small amount of data</a:t>
            </a:r>
          </a:p>
          <a:p>
            <a:pPr marL="285750" indent="-285750">
              <a:buFont typeface="Arial" panose="020B0604020202020204" pitchFamily="34" charset="0"/>
              <a:buChar char="•"/>
            </a:pPr>
            <a:r>
              <a:rPr lang="en-US" sz="2000" i="1" dirty="0"/>
              <a:t>Barcodes once distorted cannot be used properly</a:t>
            </a:r>
          </a:p>
          <a:p>
            <a:pPr marL="285750" indent="-285750">
              <a:buFont typeface="Arial" panose="020B0604020202020204" pitchFamily="34" charset="0"/>
              <a:buChar char="•"/>
            </a:pPr>
            <a:r>
              <a:rPr lang="en-US" sz="2000" i="1" dirty="0"/>
              <a:t>Needs special devices to decode the </a:t>
            </a:r>
            <a:r>
              <a:rPr lang="en-US" sz="2000" i="1" dirty="0" err="1"/>
              <a:t>informations</a:t>
            </a:r>
            <a:endParaRPr lang="en-US" sz="2000" i="1" dirty="0"/>
          </a:p>
          <a:p>
            <a:pPr marL="285750" indent="-285750">
              <a:buFont typeface="Arial" panose="020B0604020202020204" pitchFamily="34" charset="0"/>
              <a:buChar char="•"/>
            </a:pPr>
            <a:r>
              <a:rPr lang="en-US" sz="2000" i="1" dirty="0"/>
              <a:t>Only works </a:t>
            </a:r>
            <a:r>
              <a:rPr lang="en-US" sz="2000" i="1" dirty="0" err="1"/>
              <a:t>works</a:t>
            </a:r>
            <a:r>
              <a:rPr lang="en-US" sz="2000" i="1" dirty="0"/>
              <a:t> with computer or </a:t>
            </a:r>
            <a:r>
              <a:rPr lang="en-US" sz="2000" i="1" dirty="0" err="1"/>
              <a:t>POSterminals</a:t>
            </a:r>
            <a:endParaRPr lang="en-US" sz="2000" i="1" dirty="0"/>
          </a:p>
          <a:p>
            <a:pPr marL="285750" indent="-285750">
              <a:buFont typeface="Arial" panose="020B0604020202020204" pitchFamily="34" charset="0"/>
              <a:buChar char="•"/>
            </a:pPr>
            <a:r>
              <a:rPr lang="en-US" sz="2000" i="1" dirty="0"/>
              <a:t>Do not has read/write capability </a:t>
            </a:r>
          </a:p>
          <a:p>
            <a:pPr marL="285750" indent="-285750">
              <a:buFont typeface="Arial" panose="020B0604020202020204" pitchFamily="34" charset="0"/>
              <a:buChar char="•"/>
            </a:pPr>
            <a:r>
              <a:rPr lang="en-US" sz="2000" i="1" dirty="0"/>
              <a:t>It is </a:t>
            </a:r>
            <a:r>
              <a:rPr lang="en-US" sz="2000" i="1" dirty="0" err="1"/>
              <a:t>labour</a:t>
            </a:r>
            <a:r>
              <a:rPr lang="en-US" sz="2000" i="1" dirty="0"/>
              <a:t> </a:t>
            </a:r>
            <a:r>
              <a:rPr lang="en-US" sz="2000" i="1" dirty="0" err="1"/>
              <a:t>intentive</a:t>
            </a:r>
            <a:r>
              <a:rPr lang="en-US" sz="2000" i="1" dirty="0"/>
              <a:t> as it requires to be scanned individually</a:t>
            </a:r>
          </a:p>
          <a:p>
            <a:pPr marL="285750" indent="-285750">
              <a:buFont typeface="Arial" panose="020B0604020202020204" pitchFamily="34" charset="0"/>
              <a:buChar char="•"/>
            </a:pPr>
            <a:r>
              <a:rPr lang="en-US" sz="2000" i="1" dirty="0"/>
              <a:t>Scratched or crumpled bar codes causes problem while scanning</a:t>
            </a:r>
          </a:p>
        </p:txBody>
      </p:sp>
      <p:pic>
        <p:nvPicPr>
          <p:cNvPr id="9" name="Picture 8">
            <a:extLst>
              <a:ext uri="{FF2B5EF4-FFF2-40B4-BE49-F238E27FC236}">
                <a16:creationId xmlns:a16="http://schemas.microsoft.com/office/drawing/2014/main" id="{F11FA07A-D480-437C-A972-C8F4009A96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600" y="4437262"/>
            <a:ext cx="2286000" cy="1200150"/>
          </a:xfrm>
          <a:prstGeom prst="rect">
            <a:avLst/>
          </a:prstGeom>
        </p:spPr>
      </p:pic>
      <p:pic>
        <p:nvPicPr>
          <p:cNvPr id="11" name="Picture 10">
            <a:extLst>
              <a:ext uri="{FF2B5EF4-FFF2-40B4-BE49-F238E27FC236}">
                <a16:creationId xmlns:a16="http://schemas.microsoft.com/office/drawing/2014/main" id="{CBF0F844-1A7C-4A1F-8F46-5A6600C4DCE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48200" y="4437262"/>
            <a:ext cx="2819400" cy="1200150"/>
          </a:xfrm>
          <a:prstGeom prst="rect">
            <a:avLst/>
          </a:prstGeom>
        </p:spPr>
      </p:pic>
    </p:spTree>
    <p:extLst>
      <p:ext uri="{BB962C8B-B14F-4D97-AF65-F5344CB8AC3E}">
        <p14:creationId xmlns:p14="http://schemas.microsoft.com/office/powerpoint/2010/main" val="8980404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1750197" y="0"/>
            <a:ext cx="6826542" cy="6858000"/>
          </a:xfrm>
          <a:prstGeom prst="rect">
            <a:avLst/>
          </a:prstGeom>
        </p:spPr>
      </p:pic>
      <p:sp>
        <p:nvSpPr>
          <p:cNvPr id="9" name="TextBox 8">
            <a:extLst>
              <a:ext uri="{FF2B5EF4-FFF2-40B4-BE49-F238E27FC236}">
                <a16:creationId xmlns:a16="http://schemas.microsoft.com/office/drawing/2014/main" id="{974B4140-9723-47C2-928D-4E65F938BFEA}"/>
              </a:ext>
            </a:extLst>
          </p:cNvPr>
          <p:cNvSpPr txBox="1"/>
          <p:nvPr/>
        </p:nvSpPr>
        <p:spPr>
          <a:xfrm>
            <a:off x="349241" y="228600"/>
            <a:ext cx="3840860" cy="769441"/>
          </a:xfrm>
          <a:prstGeom prst="rect">
            <a:avLst/>
          </a:prstGeom>
          <a:noFill/>
        </p:spPr>
        <p:txBody>
          <a:bodyPr wrap="none" rtlCol="0">
            <a:spAutoFit/>
          </a:bodyPr>
          <a:lstStyle/>
          <a:p>
            <a:pPr marL="571500" indent="-571500">
              <a:buFont typeface="Wingdings" panose="05000000000000000000" pitchFamily="2" charset="2"/>
              <a:buChar char="Ø"/>
            </a:pPr>
            <a:r>
              <a:rPr lang="en-US" sz="4400" b="1" dirty="0"/>
              <a:t>Research gap</a:t>
            </a:r>
          </a:p>
        </p:txBody>
      </p:sp>
      <p:sp>
        <p:nvSpPr>
          <p:cNvPr id="11" name="TextBox 10">
            <a:extLst>
              <a:ext uri="{FF2B5EF4-FFF2-40B4-BE49-F238E27FC236}">
                <a16:creationId xmlns:a16="http://schemas.microsoft.com/office/drawing/2014/main" id="{D8BB1D71-1653-4218-919A-1C7C0F46762B}"/>
              </a:ext>
            </a:extLst>
          </p:cNvPr>
          <p:cNvSpPr txBox="1"/>
          <p:nvPr/>
        </p:nvSpPr>
        <p:spPr>
          <a:xfrm>
            <a:off x="577558" y="1371600"/>
            <a:ext cx="7742248" cy="738664"/>
          </a:xfrm>
          <a:prstGeom prst="rect">
            <a:avLst/>
          </a:prstGeom>
          <a:noFill/>
        </p:spPr>
        <p:txBody>
          <a:bodyPr wrap="none" rtlCol="0">
            <a:spAutoFit/>
          </a:bodyPr>
          <a:lstStyle/>
          <a:p>
            <a:r>
              <a:rPr lang="en-US" sz="2400" i="1" dirty="0"/>
              <a:t>TO INCREASE THE ACCURACY, SPEED AND HILGH DURABILITY</a:t>
            </a:r>
          </a:p>
          <a:p>
            <a:endParaRPr lang="en-US" dirty="0"/>
          </a:p>
        </p:txBody>
      </p:sp>
      <p:sp>
        <p:nvSpPr>
          <p:cNvPr id="12" name="TextBox 11">
            <a:extLst>
              <a:ext uri="{FF2B5EF4-FFF2-40B4-BE49-F238E27FC236}">
                <a16:creationId xmlns:a16="http://schemas.microsoft.com/office/drawing/2014/main" id="{3325B0E6-F04A-43F2-A3B5-6E8ECC09DD8F}"/>
              </a:ext>
            </a:extLst>
          </p:cNvPr>
          <p:cNvSpPr txBox="1"/>
          <p:nvPr/>
        </p:nvSpPr>
        <p:spPr>
          <a:xfrm>
            <a:off x="685800" y="2325469"/>
            <a:ext cx="7687297" cy="984885"/>
          </a:xfrm>
          <a:prstGeom prst="rect">
            <a:avLst/>
          </a:prstGeom>
          <a:noFill/>
        </p:spPr>
        <p:txBody>
          <a:bodyPr wrap="none" rtlCol="0">
            <a:spAutoFit/>
          </a:bodyPr>
          <a:lstStyle/>
          <a:p>
            <a:r>
              <a:rPr lang="en-US" sz="2000" i="1" dirty="0"/>
              <a:t>A radio frequency wave generator can be used to generate radio signals.</a:t>
            </a:r>
          </a:p>
          <a:p>
            <a:r>
              <a:rPr lang="en-US" sz="2000" i="1" dirty="0"/>
              <a:t>Which can replace the bar/</a:t>
            </a:r>
            <a:r>
              <a:rPr lang="en-US" sz="2000" i="1" dirty="0" err="1"/>
              <a:t>qr</a:t>
            </a:r>
            <a:r>
              <a:rPr lang="en-US" sz="2000" i="1" dirty="0"/>
              <a:t> codes.</a:t>
            </a:r>
          </a:p>
          <a:p>
            <a:r>
              <a:rPr lang="en-US" dirty="0"/>
              <a:t> </a:t>
            </a:r>
          </a:p>
        </p:txBody>
      </p:sp>
      <p:pic>
        <p:nvPicPr>
          <p:cNvPr id="3" name="Picture 2">
            <a:extLst>
              <a:ext uri="{FF2B5EF4-FFF2-40B4-BE49-F238E27FC236}">
                <a16:creationId xmlns:a16="http://schemas.microsoft.com/office/drawing/2014/main" id="{3F99990E-1677-44F4-9DA8-AF9B28AC49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7400" y="3195759"/>
            <a:ext cx="4049217" cy="3433641"/>
          </a:xfrm>
          <a:prstGeom prst="rect">
            <a:avLst/>
          </a:prstGeom>
        </p:spPr>
      </p:pic>
    </p:spTree>
    <p:extLst>
      <p:ext uri="{BB962C8B-B14F-4D97-AF65-F5344CB8AC3E}">
        <p14:creationId xmlns:p14="http://schemas.microsoft.com/office/powerpoint/2010/main" val="19151379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1752600" y="0"/>
            <a:ext cx="6826542" cy="6858000"/>
          </a:xfrm>
          <a:prstGeom prst="rect">
            <a:avLst/>
          </a:prstGeom>
        </p:spPr>
      </p:pic>
      <p:pic>
        <p:nvPicPr>
          <p:cNvPr id="6" name="Picture 5">
            <a:extLst>
              <a:ext uri="{FF2B5EF4-FFF2-40B4-BE49-F238E27FC236}">
                <a16:creationId xmlns:a16="http://schemas.microsoft.com/office/drawing/2014/main" id="{E430ADEE-D5A7-4840-8049-254BE0829B0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57600" y="3252632"/>
            <a:ext cx="5488459" cy="3607428"/>
          </a:xfrm>
          <a:prstGeom prst="rect">
            <a:avLst/>
          </a:prstGeom>
        </p:spPr>
      </p:pic>
      <p:pic>
        <p:nvPicPr>
          <p:cNvPr id="7" name="Picture 6">
            <a:extLst>
              <a:ext uri="{FF2B5EF4-FFF2-40B4-BE49-F238E27FC236}">
                <a16:creationId xmlns:a16="http://schemas.microsoft.com/office/drawing/2014/main" id="{69BB1AA4-58A6-4273-BDDD-655854CC43A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38" y="0"/>
            <a:ext cx="5020962" cy="4007540"/>
          </a:xfrm>
          <a:prstGeom prst="rect">
            <a:avLst/>
          </a:prstGeom>
        </p:spPr>
      </p:pic>
    </p:spTree>
    <p:extLst>
      <p:ext uri="{BB962C8B-B14F-4D97-AF65-F5344CB8AC3E}">
        <p14:creationId xmlns:p14="http://schemas.microsoft.com/office/powerpoint/2010/main" val="20233102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1981200" y="0"/>
            <a:ext cx="6826542" cy="6858000"/>
          </a:xfrm>
          <a:prstGeom prst="rect">
            <a:avLst/>
          </a:prstGeom>
        </p:spPr>
      </p:pic>
      <p:sp>
        <p:nvSpPr>
          <p:cNvPr id="13" name="TextBox 12">
            <a:extLst>
              <a:ext uri="{FF2B5EF4-FFF2-40B4-BE49-F238E27FC236}">
                <a16:creationId xmlns:a16="http://schemas.microsoft.com/office/drawing/2014/main" id="{70300603-B425-451A-A566-B0B4E3267954}"/>
              </a:ext>
            </a:extLst>
          </p:cNvPr>
          <p:cNvSpPr txBox="1"/>
          <p:nvPr/>
        </p:nvSpPr>
        <p:spPr>
          <a:xfrm>
            <a:off x="457200" y="533400"/>
            <a:ext cx="7924800" cy="10926068"/>
          </a:xfrm>
          <a:prstGeom prst="rect">
            <a:avLst/>
          </a:prstGeom>
          <a:noFill/>
        </p:spPr>
        <p:txBody>
          <a:bodyPr wrap="square" rtlCol="0">
            <a:spAutoFit/>
          </a:bodyPr>
          <a:lstStyle/>
          <a:p>
            <a:pPr marL="571500" indent="-571500">
              <a:buFont typeface="Wingdings" panose="05000000000000000000" pitchFamily="2" charset="2"/>
              <a:buChar char="Ø"/>
            </a:pPr>
            <a:r>
              <a:rPr lang="en-US" sz="4400" b="1" dirty="0"/>
              <a:t>Methodology</a:t>
            </a:r>
          </a:p>
          <a:p>
            <a:endParaRPr lang="en-US" sz="2000" b="1" dirty="0"/>
          </a:p>
          <a:p>
            <a:r>
              <a:rPr lang="en-US" sz="2000" dirty="0"/>
              <a:t>The methods and the tools required in this project are as follows-</a:t>
            </a:r>
          </a:p>
          <a:p>
            <a:endParaRPr lang="en-US" sz="2000" dirty="0"/>
          </a:p>
          <a:p>
            <a:r>
              <a:rPr lang="en-US" sz="2000" dirty="0"/>
              <a:t>      Inventory Control</a:t>
            </a:r>
          </a:p>
          <a:p>
            <a:pPr marL="342900" indent="-342900">
              <a:buFont typeface="Arial" panose="020B0604020202020204" pitchFamily="34" charset="0"/>
              <a:buChar char="•"/>
            </a:pPr>
            <a:r>
              <a:rPr lang="en-US" sz="2000" dirty="0"/>
              <a:t>Barcode Scanner</a:t>
            </a:r>
          </a:p>
          <a:p>
            <a:pPr marL="342900" indent="-342900">
              <a:buFont typeface="Arial" panose="020B0604020202020204" pitchFamily="34" charset="0"/>
              <a:buChar char="•"/>
            </a:pPr>
            <a:r>
              <a:rPr lang="en-US" sz="2000" dirty="0"/>
              <a:t>Decoder</a:t>
            </a:r>
          </a:p>
          <a:p>
            <a:pPr marL="342900" indent="-342900">
              <a:buFont typeface="Arial" panose="020B0604020202020204" pitchFamily="34" charset="0"/>
              <a:buChar char="•"/>
            </a:pPr>
            <a:r>
              <a:rPr lang="en-US" sz="2000" dirty="0"/>
              <a:t>Printing Software</a:t>
            </a:r>
          </a:p>
          <a:p>
            <a:pPr marL="342900" indent="-342900">
              <a:buFont typeface="Arial" panose="020B0604020202020204" pitchFamily="34" charset="0"/>
              <a:buChar char="•"/>
            </a:pPr>
            <a:r>
              <a:rPr lang="en-US" sz="2000" dirty="0"/>
              <a:t>Communication Software</a:t>
            </a:r>
          </a:p>
          <a:p>
            <a:pPr marL="342900" indent="-342900">
              <a:buFont typeface="Arial" panose="020B0604020202020204" pitchFamily="34" charset="0"/>
              <a:buChar char="•"/>
            </a:pPr>
            <a:r>
              <a:rPr lang="en-US" sz="2000" dirty="0"/>
              <a:t>Database of library Holdings</a:t>
            </a:r>
          </a:p>
          <a:p>
            <a:pPr marL="342900" indent="-342900">
              <a:buFont typeface="Arial" panose="020B0604020202020204" pitchFamily="34" charset="0"/>
              <a:buChar char="•"/>
            </a:pPr>
            <a:r>
              <a:rPr lang="en-US" sz="2000" dirty="0"/>
              <a:t>Library Software</a:t>
            </a:r>
          </a:p>
          <a:p>
            <a:pPr marL="342900" indent="-342900">
              <a:buFont typeface="Arial" panose="020B0604020202020204" pitchFamily="34" charset="0"/>
              <a:buChar char="•"/>
            </a:pPr>
            <a:r>
              <a:rPr lang="en-US" sz="2000" dirty="0"/>
              <a:t>Membership Database</a:t>
            </a:r>
          </a:p>
          <a:p>
            <a:pPr marL="342900" indent="-342900">
              <a:buFont typeface="Arial" panose="020B0604020202020204" pitchFamily="34" charset="0"/>
              <a:buChar char="•"/>
            </a:pPr>
            <a:r>
              <a:rPr lang="en-US" sz="2000" dirty="0"/>
              <a:t>Personal Computers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Inventory Control-Its working is to control the parts.</a:t>
            </a:r>
          </a:p>
          <a:p>
            <a:pPr marL="342900" indent="-342900">
              <a:buFont typeface="Arial" panose="020B0604020202020204" pitchFamily="34" charset="0"/>
              <a:buChar char="•"/>
            </a:pPr>
            <a:r>
              <a:rPr lang="en-US" sz="2000" dirty="0"/>
              <a:t>Barcode Scanner-Its working is to scan the QR code for required operation.</a:t>
            </a:r>
          </a:p>
          <a:p>
            <a:pPr marL="342900" indent="-342900">
              <a:buFont typeface="Arial" panose="020B0604020202020204" pitchFamily="34" charset="0"/>
              <a:buChar char="•"/>
            </a:pPr>
            <a:r>
              <a:rPr lang="en-US" sz="2000" dirty="0"/>
              <a:t>Decoder-It decodes the scanner which forms and does the further simplification.</a:t>
            </a:r>
          </a:p>
          <a:p>
            <a:pPr marL="342900" indent="-342900">
              <a:buFont typeface="Arial" panose="020B0604020202020204" pitchFamily="34" charset="0"/>
              <a:buChar char="•"/>
            </a:pPr>
            <a:r>
              <a:rPr lang="en-US" sz="2000" dirty="0"/>
              <a:t>Printing Software-It is the software which prints the scan into </a:t>
            </a:r>
            <a:r>
              <a:rPr lang="en-US" sz="2000" dirty="0" err="1"/>
              <a:t>analysed</a:t>
            </a:r>
            <a:r>
              <a:rPr lang="en-US" sz="2000" dirty="0"/>
              <a:t> form.</a:t>
            </a:r>
          </a:p>
          <a:p>
            <a:pPr marL="342900" indent="-342900">
              <a:buFont typeface="Arial" panose="020B0604020202020204" pitchFamily="34" charset="0"/>
              <a:buChar char="•"/>
            </a:pPr>
            <a:r>
              <a:rPr lang="en-US" sz="2000" dirty="0"/>
              <a:t>Communication Software-It is the software which does all the communication.</a:t>
            </a:r>
          </a:p>
          <a:p>
            <a:pPr marL="342900" indent="-342900">
              <a:buFont typeface="Arial" panose="020B0604020202020204" pitchFamily="34" charset="0"/>
              <a:buChar char="•"/>
            </a:pPr>
            <a:r>
              <a:rPr lang="en-US" sz="2000" dirty="0"/>
              <a:t>Database of library Holdings-It provides the database for the further proceedings.</a:t>
            </a:r>
          </a:p>
          <a:p>
            <a:pPr marL="342900" indent="-342900">
              <a:buFont typeface="Arial" panose="020B0604020202020204" pitchFamily="34" charset="0"/>
              <a:buChar char="•"/>
            </a:pPr>
            <a:r>
              <a:rPr lang="en-US" sz="2000" dirty="0"/>
              <a:t>Library Software-It is the software which provides the necessary required tools for the working.</a:t>
            </a:r>
          </a:p>
          <a:p>
            <a:pPr marL="342900" indent="-342900">
              <a:buFont typeface="Arial" panose="020B0604020202020204" pitchFamily="34" charset="0"/>
              <a:buChar char="•"/>
            </a:pPr>
            <a:r>
              <a:rPr lang="en-US" sz="2000" dirty="0"/>
              <a:t>Membership Database-It is one kind of database which needs to be operated at a particular time.</a:t>
            </a:r>
          </a:p>
          <a:p>
            <a:pPr marL="342900" indent="-342900">
              <a:buFont typeface="Arial" panose="020B0604020202020204" pitchFamily="34" charset="0"/>
              <a:buChar char="•"/>
            </a:pPr>
            <a:r>
              <a:rPr lang="en-US" sz="2000" dirty="0"/>
              <a:t>Personal computer-A computer as required to do the </a:t>
            </a:r>
            <a:r>
              <a:rPr lang="en-US" sz="2000" dirty="0" err="1"/>
              <a:t>codings</a:t>
            </a:r>
            <a:r>
              <a:rPr lang="en-US" sz="2000" dirty="0"/>
              <a:t> and for the whole project.</a:t>
            </a:r>
          </a:p>
        </p:txBody>
      </p:sp>
    </p:spTree>
    <p:extLst>
      <p:ext uri="{BB962C8B-B14F-4D97-AF65-F5344CB8AC3E}">
        <p14:creationId xmlns:p14="http://schemas.microsoft.com/office/powerpoint/2010/main" val="16555908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A5D6A37-DFCB-44AB-B64F-5249DFE03BE2}"/>
              </a:ext>
            </a:extLst>
          </p:cNvPr>
          <p:cNvSpPr>
            <a:spLocks noGrp="1"/>
          </p:cNvSpPr>
          <p:nvPr>
            <p:ph type="ctrTitle"/>
          </p:nvPr>
        </p:nvSpPr>
        <p:spPr>
          <a:xfrm>
            <a:off x="6178" y="-4119"/>
            <a:ext cx="8452022" cy="609600"/>
          </a:xfrm>
        </p:spPr>
        <p:txBody>
          <a:bodyPr/>
          <a:lstStyle/>
          <a:p>
            <a:pPr marL="457200" indent="-457200">
              <a:buFont typeface="Wingdings" panose="05000000000000000000" pitchFamily="2" charset="2"/>
              <a:buChar char="Ø"/>
            </a:pPr>
            <a:r>
              <a:rPr lang="en-US" sz="2400" b="1" i="1" dirty="0">
                <a:solidFill>
                  <a:schemeClr val="tx1"/>
                </a:solidFill>
              </a:rPr>
              <a:t>Applications of QR/BAR CODERS</a:t>
            </a:r>
          </a:p>
        </p:txBody>
      </p:sp>
      <p:pic>
        <p:nvPicPr>
          <p:cNvPr id="1026" name="Picture 2" descr="See the source image">
            <a:extLst>
              <a:ext uri="{FF2B5EF4-FFF2-40B4-BE49-F238E27FC236}">
                <a16:creationId xmlns:a16="http://schemas.microsoft.com/office/drawing/2014/main" id="{02FCDE53-D856-4446-A2A8-23942EDA7859}"/>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203886" y="629035"/>
            <a:ext cx="3478427" cy="2043756"/>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C03088DB-FAE2-4D84-A5E6-1AB8378996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57800" y="4419600"/>
            <a:ext cx="2962275" cy="2200275"/>
          </a:xfrm>
          <a:prstGeom prst="rect">
            <a:avLst/>
          </a:prstGeom>
        </p:spPr>
      </p:pic>
      <p:pic>
        <p:nvPicPr>
          <p:cNvPr id="16" name="Picture 15">
            <a:extLst>
              <a:ext uri="{FF2B5EF4-FFF2-40B4-BE49-F238E27FC236}">
                <a16:creationId xmlns:a16="http://schemas.microsoft.com/office/drawing/2014/main" id="{B618DA17-885F-4D9C-9030-8C17540CC74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34000" y="605481"/>
            <a:ext cx="2962275" cy="1909119"/>
          </a:xfrm>
          <a:prstGeom prst="rect">
            <a:avLst/>
          </a:prstGeom>
        </p:spPr>
      </p:pic>
      <p:pic>
        <p:nvPicPr>
          <p:cNvPr id="18" name="Picture 17">
            <a:extLst>
              <a:ext uri="{FF2B5EF4-FFF2-40B4-BE49-F238E27FC236}">
                <a16:creationId xmlns:a16="http://schemas.microsoft.com/office/drawing/2014/main" id="{09C6B369-B413-42B3-A372-487FB90128C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36286" y="2510480"/>
            <a:ext cx="4293968" cy="1985319"/>
          </a:xfrm>
          <a:prstGeom prst="rect">
            <a:avLst/>
          </a:prstGeom>
        </p:spPr>
      </p:pic>
      <p:pic>
        <p:nvPicPr>
          <p:cNvPr id="20" name="Picture 19">
            <a:extLst>
              <a:ext uri="{FF2B5EF4-FFF2-40B4-BE49-F238E27FC236}">
                <a16:creationId xmlns:a16="http://schemas.microsoft.com/office/drawing/2014/main" id="{2DE71F5F-53B8-416E-92E8-ECA5319CA47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33399" y="4419599"/>
            <a:ext cx="2819400" cy="2200275"/>
          </a:xfrm>
          <a:prstGeom prst="rect">
            <a:avLst/>
          </a:prstGeom>
        </p:spPr>
      </p:pic>
    </p:spTree>
    <p:extLst>
      <p:ext uri="{BB962C8B-B14F-4D97-AF65-F5344CB8AC3E}">
        <p14:creationId xmlns:p14="http://schemas.microsoft.com/office/powerpoint/2010/main" val="1091143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1752600" y="0"/>
            <a:ext cx="6826542" cy="6858000"/>
          </a:xfrm>
          <a:prstGeom prst="rect">
            <a:avLst/>
          </a:prstGeom>
        </p:spPr>
      </p:pic>
      <p:sp>
        <p:nvSpPr>
          <p:cNvPr id="2" name="Title 1"/>
          <p:cNvSpPr>
            <a:spLocks noGrp="1"/>
          </p:cNvSpPr>
          <p:nvPr>
            <p:ph type="title"/>
          </p:nvPr>
        </p:nvSpPr>
        <p:spPr/>
        <p:txBody>
          <a:bodyPr/>
          <a:lstStyle/>
          <a:p>
            <a:r>
              <a:rPr lang="en-US" dirty="0">
                <a:solidFill>
                  <a:schemeClr val="tx1"/>
                </a:solidFill>
                <a:latin typeface="Aharoni" pitchFamily="2" charset="-79"/>
                <a:cs typeface="Aharoni" pitchFamily="2" charset="-79"/>
              </a:rPr>
              <a:t>Questions</a:t>
            </a:r>
          </a:p>
        </p:txBody>
      </p:sp>
      <p:sp>
        <p:nvSpPr>
          <p:cNvPr id="5" name="Title 1"/>
          <p:cNvSpPr txBox="1">
            <a:spLocks/>
          </p:cNvSpPr>
          <p:nvPr/>
        </p:nvSpPr>
        <p:spPr>
          <a:xfrm>
            <a:off x="4038600" y="2857500"/>
            <a:ext cx="609600" cy="1143000"/>
          </a:xfrm>
          <a:prstGeom prst="rect">
            <a:avLst/>
          </a:prstGeom>
        </p:spPr>
        <p:txBody>
          <a:bodyPr vert="horz" lIns="91440" tIns="45720" rIns="91440" bIns="45720" rtlCol="0" anchor="ctr">
            <a:noAutofit/>
          </a:bodyPr>
          <a:lst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a:lstStyle>
          <a:p>
            <a:r>
              <a:rPr lang="en-US" sz="9600" dirty="0">
                <a:solidFill>
                  <a:schemeClr val="tx1"/>
                </a:solidFill>
                <a:latin typeface="Arial Black" pitchFamily="34" charset="0"/>
                <a:cs typeface="Aharoni" pitchFamily="2" charset="-79"/>
              </a:rPr>
              <a:t>?</a:t>
            </a:r>
          </a:p>
        </p:txBody>
      </p:sp>
      <p:sp>
        <p:nvSpPr>
          <p:cNvPr id="6" name="TextBox 5">
            <a:extLst>
              <a:ext uri="{FF2B5EF4-FFF2-40B4-BE49-F238E27FC236}">
                <a16:creationId xmlns:a16="http://schemas.microsoft.com/office/drawing/2014/main" id="{61CE6BE0-F621-45BC-9E4F-FF81D205E6C3}"/>
              </a:ext>
            </a:extLst>
          </p:cNvPr>
          <p:cNvSpPr txBox="1"/>
          <p:nvPr/>
        </p:nvSpPr>
        <p:spPr>
          <a:xfrm>
            <a:off x="589572" y="1905000"/>
            <a:ext cx="6978942" cy="3816429"/>
          </a:xfrm>
          <a:prstGeom prst="rect">
            <a:avLst/>
          </a:prstGeom>
          <a:noFill/>
        </p:spPr>
        <p:txBody>
          <a:bodyPr wrap="square" rtlCol="0">
            <a:spAutoFit/>
          </a:bodyPr>
          <a:lstStyle/>
          <a:p>
            <a:pPr marL="285750" indent="-285750">
              <a:buFont typeface="Arial" panose="020B0604020202020204" pitchFamily="34" charset="0"/>
              <a:buChar char="•"/>
            </a:pPr>
            <a:r>
              <a:rPr lang="en-US" sz="2800" i="1" dirty="0"/>
              <a:t>Email List Segmentation</a:t>
            </a:r>
          </a:p>
          <a:p>
            <a:pPr marL="285750" indent="-285750">
              <a:buFont typeface="Arial" panose="020B0604020202020204" pitchFamily="34" charset="0"/>
              <a:buChar char="•"/>
            </a:pPr>
            <a:r>
              <a:rPr lang="en-US" sz="2800" i="1" dirty="0"/>
              <a:t>Employee Attendance and Time Tracking</a:t>
            </a:r>
          </a:p>
          <a:p>
            <a:pPr marL="285750" indent="-285750">
              <a:buFont typeface="Arial" panose="020B0604020202020204" pitchFamily="34" charset="0"/>
              <a:buChar char="•"/>
            </a:pPr>
            <a:r>
              <a:rPr lang="en-US" sz="2800" i="1" dirty="0"/>
              <a:t>Social sharing </a:t>
            </a:r>
          </a:p>
          <a:p>
            <a:pPr marL="285750" indent="-285750">
              <a:buFont typeface="Arial" panose="020B0604020202020204" pitchFamily="34" charset="0"/>
              <a:buChar char="•"/>
            </a:pPr>
            <a:r>
              <a:rPr lang="en-US" sz="2800" i="1" dirty="0"/>
              <a:t>Package Tracking</a:t>
            </a:r>
          </a:p>
          <a:p>
            <a:pPr marL="285750" indent="-285750">
              <a:buFont typeface="Arial" panose="020B0604020202020204" pitchFamily="34" charset="0"/>
              <a:buChar char="•"/>
            </a:pPr>
            <a:r>
              <a:rPr lang="en-US" sz="2800" i="1" dirty="0"/>
              <a:t>Connecting BRICK &amp; MORTAR</a:t>
            </a:r>
          </a:p>
          <a:p>
            <a:pPr marL="285750" indent="-285750">
              <a:buFont typeface="Arial" panose="020B0604020202020204" pitchFamily="34" charset="0"/>
              <a:buChar char="•"/>
            </a:pPr>
            <a:r>
              <a:rPr lang="en-US" sz="2800" i="1" dirty="0"/>
              <a:t>Digital marketing</a:t>
            </a:r>
          </a:p>
          <a:p>
            <a:pPr marL="285750" indent="-285750">
              <a:buFont typeface="Arial" panose="020B0604020202020204" pitchFamily="34" charset="0"/>
              <a:buChar char="•"/>
            </a:pPr>
            <a:r>
              <a:rPr lang="en-US" sz="2800" i="1" dirty="0"/>
              <a:t>Graphic </a:t>
            </a:r>
            <a:r>
              <a:rPr lang="en-US" sz="2800" i="1" dirty="0" err="1"/>
              <a:t>Analisys</a:t>
            </a:r>
            <a:endParaRPr lang="en-US" sz="2800" i="1" dirty="0"/>
          </a:p>
          <a:p>
            <a:pPr marL="285750" indent="-285750">
              <a:buFont typeface="Arial" panose="020B0604020202020204" pitchFamily="34" charset="0"/>
              <a:buChar char="•"/>
            </a:pPr>
            <a:r>
              <a:rPr lang="en-US" sz="2800" i="1" dirty="0" err="1"/>
              <a:t>Assest</a:t>
            </a:r>
            <a:r>
              <a:rPr lang="en-US" sz="2800" i="1" dirty="0"/>
              <a:t> Management </a:t>
            </a:r>
          </a:p>
          <a:p>
            <a:endParaRPr lang="en-US" dirty="0"/>
          </a:p>
        </p:txBody>
      </p:sp>
    </p:spTree>
    <p:extLst>
      <p:ext uri="{BB962C8B-B14F-4D97-AF65-F5344CB8AC3E}">
        <p14:creationId xmlns:p14="http://schemas.microsoft.com/office/powerpoint/2010/main" val="23426063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D1D6F-FF5D-4627-970F-349D91F570EA}"/>
              </a:ext>
            </a:extLst>
          </p:cNvPr>
          <p:cNvSpPr>
            <a:spLocks noGrp="1"/>
          </p:cNvSpPr>
          <p:nvPr>
            <p:ph type="title"/>
          </p:nvPr>
        </p:nvSpPr>
        <p:spPr/>
        <p:txBody>
          <a:bodyPr/>
          <a:lstStyle/>
          <a:p>
            <a:r>
              <a:rPr lang="en-US" dirty="0">
                <a:solidFill>
                  <a:schemeClr val="tx1"/>
                </a:solidFill>
              </a:rPr>
              <a:t>CONCLUSION</a:t>
            </a:r>
          </a:p>
        </p:txBody>
      </p:sp>
      <p:sp>
        <p:nvSpPr>
          <p:cNvPr id="3" name="Content Placeholder 2">
            <a:extLst>
              <a:ext uri="{FF2B5EF4-FFF2-40B4-BE49-F238E27FC236}">
                <a16:creationId xmlns:a16="http://schemas.microsoft.com/office/drawing/2014/main" id="{C2E41864-585B-480D-AD9E-8D13E237062B}"/>
              </a:ext>
            </a:extLst>
          </p:cNvPr>
          <p:cNvSpPr>
            <a:spLocks noGrp="1"/>
          </p:cNvSpPr>
          <p:nvPr>
            <p:ph idx="1"/>
          </p:nvPr>
        </p:nvSpPr>
        <p:spPr/>
        <p:txBody>
          <a:bodyPr>
            <a:normAutofit fontScale="92500"/>
          </a:bodyPr>
          <a:lstStyle/>
          <a:p>
            <a:r>
              <a:rPr lang="en-US" dirty="0" err="1"/>
              <a:t>Implifications</a:t>
            </a:r>
            <a:r>
              <a:rPr lang="en-US" dirty="0"/>
              <a:t> automated and barcode technology is one of the best techniques to minimize the time taken at the circulation center.</a:t>
            </a:r>
          </a:p>
          <a:p>
            <a:r>
              <a:rPr lang="en-US" dirty="0"/>
              <a:t>Barcoding by itself is not system but an identification tool that provides an accurate and timely support of the data requirement for the sophisticated management systems.</a:t>
            </a:r>
          </a:p>
          <a:p>
            <a:r>
              <a:rPr lang="en-US" dirty="0"/>
              <a:t>The barcode usage increases accuracy in the data </a:t>
            </a:r>
            <a:r>
              <a:rPr lang="en-US" dirty="0" err="1"/>
              <a:t>collction</a:t>
            </a:r>
            <a:r>
              <a:rPr lang="en-US" dirty="0"/>
              <a:t>, save time of the users and the staff and improves efficiency in various library </a:t>
            </a:r>
            <a:r>
              <a:rPr lang="en-US" dirty="0" err="1"/>
              <a:t>operations.Every</a:t>
            </a:r>
            <a:r>
              <a:rPr lang="en-US" dirty="0"/>
              <a:t>  library needs the application of new technology to develop its existing methods. This time thus saved can be utilized for developing advance and additional techniques in the library.</a:t>
            </a:r>
          </a:p>
          <a:p>
            <a:r>
              <a:rPr lang="en-US" dirty="0"/>
              <a:t>Contribution of barcode technology with computer and application software improves performance and efficiency in various library operations. </a:t>
            </a:r>
          </a:p>
        </p:txBody>
      </p:sp>
    </p:spTree>
    <p:extLst>
      <p:ext uri="{BB962C8B-B14F-4D97-AF65-F5344CB8AC3E}">
        <p14:creationId xmlns:p14="http://schemas.microsoft.com/office/powerpoint/2010/main" val="38827167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3DCBC-AC1D-4151-B471-FE7B9642A7E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475D65C-647D-47D4-B122-0A5354DA9362}"/>
              </a:ext>
            </a:extLst>
          </p:cNvPr>
          <p:cNvSpPr>
            <a:spLocks noGrp="1"/>
          </p:cNvSpPr>
          <p:nvPr>
            <p:ph idx="1"/>
          </p:nvPr>
        </p:nvSpPr>
        <p:spPr/>
        <p:txBody>
          <a:bodyPr>
            <a:normAutofit/>
          </a:bodyPr>
          <a:lstStyle/>
          <a:p>
            <a:pPr marL="114300" indent="0" algn="ctr">
              <a:buNone/>
            </a:pPr>
            <a:endParaRPr lang="en-US" sz="8000" dirty="0"/>
          </a:p>
          <a:p>
            <a:pPr marL="114300" indent="0" algn="ctr">
              <a:buNone/>
            </a:pPr>
            <a:r>
              <a:rPr lang="en-US" sz="8000" dirty="0"/>
              <a:t>THANK YOU</a:t>
            </a:r>
          </a:p>
        </p:txBody>
      </p:sp>
    </p:spTree>
    <p:extLst>
      <p:ext uri="{BB962C8B-B14F-4D97-AF65-F5344CB8AC3E}">
        <p14:creationId xmlns:p14="http://schemas.microsoft.com/office/powerpoint/2010/main" val="58120613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djacency">
  <a:themeElements>
    <a:clrScheme name="Adjacency">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Adjacency</Template>
  <TotalTime>1142</TotalTime>
  <Words>1093</Words>
  <Application>Microsoft Office PowerPoint</Application>
  <PresentationFormat>On-screen Show (4:3)</PresentationFormat>
  <Paragraphs>112</Paragraphs>
  <Slides>19</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Aharoni</vt:lpstr>
      <vt:lpstr>Arial</vt:lpstr>
      <vt:lpstr>Arial Black</vt:lpstr>
      <vt:lpstr>Calibri</vt:lpstr>
      <vt:lpstr>Cambria</vt:lpstr>
      <vt:lpstr>Wingdings</vt:lpstr>
      <vt:lpstr>Adjacency</vt:lpstr>
      <vt:lpstr>Barcode/QR Code Technology</vt:lpstr>
      <vt:lpstr>PowerPoint Presentation</vt:lpstr>
      <vt:lpstr>Roadmap</vt:lpstr>
      <vt:lpstr>PowerPoint Presentation</vt:lpstr>
      <vt:lpstr>PowerPoint Presentation</vt:lpstr>
      <vt:lpstr>Litretaure survey</vt:lpstr>
      <vt:lpstr>Different Codes</vt:lpstr>
      <vt:lpstr>Different Codes</vt:lpstr>
      <vt:lpstr>Working of            scanner</vt:lpstr>
      <vt:lpstr>PowerPoint Presentation</vt:lpstr>
      <vt:lpstr>PowerPoint Presentation</vt:lpstr>
      <vt:lpstr>DISSADVANTAGE OF BAR/QR  CODES</vt:lpstr>
      <vt:lpstr>PowerPoint Presentation</vt:lpstr>
      <vt:lpstr>PowerPoint Presentation</vt:lpstr>
      <vt:lpstr>PowerPoint Presentation</vt:lpstr>
      <vt:lpstr>Applications of QR/BAR CODERS</vt:lpstr>
      <vt:lpstr>Questions</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Chris</dc:creator>
  <cp:lastModifiedBy>pavan kumar</cp:lastModifiedBy>
  <cp:revision>121</cp:revision>
  <dcterms:created xsi:type="dcterms:W3CDTF">2013-03-31T21:34:02Z</dcterms:created>
  <dcterms:modified xsi:type="dcterms:W3CDTF">2019-11-15T09:36:22Z</dcterms:modified>
</cp:coreProperties>
</file>